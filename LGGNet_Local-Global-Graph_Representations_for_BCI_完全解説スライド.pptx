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和之 吉川" userId="00bda2e2763095d7" providerId="LiveId" clId="{8DF3051F-AFC8-4A19-98C9-131D1155AB64}"/>
    <pc:docChg chg="undo custSel modSld">
      <pc:chgData name="和之 吉川" userId="00bda2e2763095d7" providerId="LiveId" clId="{8DF3051F-AFC8-4A19-98C9-131D1155AB64}" dt="2026-04-17T15:25:03.268" v="27" actId="1076"/>
      <pc:docMkLst>
        <pc:docMk/>
      </pc:docMkLst>
      <pc:sldChg chg="modSp mod">
        <pc:chgData name="和之 吉川" userId="00bda2e2763095d7" providerId="LiveId" clId="{8DF3051F-AFC8-4A19-98C9-131D1155AB64}" dt="2026-04-17T15:25:03.268" v="27" actId="1076"/>
        <pc:sldMkLst>
          <pc:docMk/>
          <pc:sldMk cId="0" sldId="256"/>
        </pc:sldMkLst>
        <pc:spChg chg="mod">
          <ac:chgData name="和之 吉川" userId="00bda2e2763095d7" providerId="LiveId" clId="{8DF3051F-AFC8-4A19-98C9-131D1155AB64}" dt="2026-04-17T15:24:46.636" v="22" actId="2711"/>
          <ac:spMkLst>
            <pc:docMk/>
            <pc:sldMk cId="0" sldId="256"/>
            <ac:spMk id="4" creationId="{00000000-0000-0000-0000-000000000000}"/>
          </ac:spMkLst>
        </pc:spChg>
        <pc:spChg chg="mod">
          <ac:chgData name="和之 吉川" userId="00bda2e2763095d7" providerId="LiveId" clId="{8DF3051F-AFC8-4A19-98C9-131D1155AB64}" dt="2026-04-17T15:24:46.636" v="22" actId="2711"/>
          <ac:spMkLst>
            <pc:docMk/>
            <pc:sldMk cId="0" sldId="256"/>
            <ac:spMk id="5" creationId="{00000000-0000-0000-0000-000000000000}"/>
          </ac:spMkLst>
        </pc:spChg>
        <pc:spChg chg="mod">
          <ac:chgData name="和之 吉川" userId="00bda2e2763095d7" providerId="LiveId" clId="{8DF3051F-AFC8-4A19-98C9-131D1155AB64}" dt="2026-04-17T15:24:46.636" v="22" actId="2711"/>
          <ac:spMkLst>
            <pc:docMk/>
            <pc:sldMk cId="0" sldId="256"/>
            <ac:spMk id="6" creationId="{00000000-0000-0000-0000-000000000000}"/>
          </ac:spMkLst>
        </pc:spChg>
        <pc:spChg chg="mod">
          <ac:chgData name="和之 吉川" userId="00bda2e2763095d7" providerId="LiveId" clId="{8DF3051F-AFC8-4A19-98C9-131D1155AB64}" dt="2026-04-17T15:24:46.636" v="22" actId="2711"/>
          <ac:spMkLst>
            <pc:docMk/>
            <pc:sldMk cId="0" sldId="256"/>
            <ac:spMk id="7" creationId="{00000000-0000-0000-0000-000000000000}"/>
          </ac:spMkLst>
        </pc:spChg>
        <pc:spChg chg="mod">
          <ac:chgData name="和之 吉川" userId="00bda2e2763095d7" providerId="LiveId" clId="{8DF3051F-AFC8-4A19-98C9-131D1155AB64}" dt="2026-04-17T15:24:46.636" v="22" actId="2711"/>
          <ac:spMkLst>
            <pc:docMk/>
            <pc:sldMk cId="0" sldId="256"/>
            <ac:spMk id="9" creationId="{00000000-0000-0000-0000-000000000000}"/>
          </ac:spMkLst>
        </pc:spChg>
        <pc:spChg chg="mod">
          <ac:chgData name="和之 吉川" userId="00bda2e2763095d7" providerId="LiveId" clId="{8DF3051F-AFC8-4A19-98C9-131D1155AB64}" dt="2026-04-17T15:25:03.268" v="27" actId="1076"/>
          <ac:spMkLst>
            <pc:docMk/>
            <pc:sldMk cId="0" sldId="256"/>
            <ac:spMk id="11" creationId="{00000000-0000-0000-0000-000000000000}"/>
          </ac:spMkLst>
        </pc:spChg>
        <pc:picChg chg="mod">
          <ac:chgData name="和之 吉川" userId="00bda2e2763095d7" providerId="LiveId" clId="{8DF3051F-AFC8-4A19-98C9-131D1155AB64}" dt="2026-04-17T15:24:57.976" v="26" actId="1076"/>
          <ac:picMkLst>
            <pc:docMk/>
            <pc:sldMk cId="0" sldId="256"/>
            <ac:picMk id="3"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20147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
        <p:nvSpPr>
          <p:cNvPr id="4" name="Shape 0"/>
          <p:cNvSpPr/>
          <p:nvPr/>
        </p:nvSpPr>
        <p:spPr>
          <a:xfrm>
            <a:off x="3725466" y="1546287"/>
            <a:ext cx="1693069" cy="283964"/>
          </a:xfrm>
          <a:prstGeom prst="roundRect">
            <a:avLst/>
          </a:prstGeom>
          <a:solidFill>
            <a:srgbClr val="FFD700">
              <a:alpha val="10000"/>
            </a:srgbClr>
          </a:solidFill>
          <a:ln w="9144">
            <a:solidFill>
              <a:srgbClr val="FFD70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 name="Text 1"/>
          <p:cNvSpPr/>
          <p:nvPr/>
        </p:nvSpPr>
        <p:spPr>
          <a:xfrm>
            <a:off x="3725466" y="1546287"/>
            <a:ext cx="1693069" cy="287258"/>
          </a:xfrm>
          <a:prstGeom prst="rect">
            <a:avLst/>
          </a:prstGeom>
          <a:noFill/>
          <a:ln/>
        </p:spPr>
        <p:txBody>
          <a:bodyPr wrap="square" lIns="170053" tIns="85090" rIns="170053" bIns="85090" rtlCol="0" anchor="t">
            <a:spAutoFit/>
          </a:bodyPr>
          <a:lstStyle/>
          <a:p>
            <a:pPr marL="0" indent="0" algn="ctr">
              <a:lnSpc>
                <a:spcPts val="900"/>
              </a:lnSpc>
              <a:buNone/>
            </a:pPr>
            <a:r>
              <a:rPr lang="en-US" sz="727" kern="0" spc="2" dirty="0">
                <a:solidFill>
                  <a:srgbClr val="FFD700"/>
                </a:solidFill>
                <a:latin typeface="メイリオ" panose="020B0604030504040204" pitchFamily="50" charset="-128"/>
                <a:ea typeface="メイリオ" panose="020B0604030504040204" pitchFamily="50" charset="-128"/>
                <a:cs typeface="Space Grotesk" pitchFamily="34" charset="-120"/>
              </a:rPr>
              <a:t>NEXT-GEN GNN FOR EEG</a:t>
            </a:r>
            <a:endParaRPr lang="en-US" sz="727" dirty="0">
              <a:latin typeface="メイリオ" panose="020B0604030504040204" pitchFamily="50" charset="-128"/>
              <a:ea typeface="メイリオ" panose="020B0604030504040204" pitchFamily="50" charset="-128"/>
            </a:endParaRPr>
          </a:p>
        </p:txBody>
      </p:sp>
      <p:sp>
        <p:nvSpPr>
          <p:cNvPr id="6" name="Text 2"/>
          <p:cNvSpPr/>
          <p:nvPr/>
        </p:nvSpPr>
        <p:spPr>
          <a:xfrm>
            <a:off x="1071563" y="2037420"/>
            <a:ext cx="7000875" cy="1068660"/>
          </a:xfrm>
          <a:prstGeom prst="rect">
            <a:avLst/>
          </a:prstGeom>
          <a:noFill/>
          <a:ln/>
        </p:spPr>
        <p:txBody>
          <a:bodyPr wrap="square" lIns="0" tIns="0" rIns="0" bIns="0" rtlCol="0" anchor="t">
            <a:spAutoFit/>
          </a:bodyPr>
          <a:lstStyle/>
          <a:p>
            <a:pPr marL="0" indent="0" algn="ctr">
              <a:lnSpc>
                <a:spcPts val="4200"/>
              </a:lnSpc>
              <a:buNone/>
            </a:pPr>
            <a:r>
              <a:rPr lang="en-US" sz="3512" b="1" dirty="0">
                <a:solidFill>
                  <a:srgbClr val="FFD700"/>
                </a:solidFill>
                <a:latin typeface="メイリオ" panose="020B0604030504040204" pitchFamily="50" charset="-128"/>
                <a:ea typeface="メイリオ" panose="020B0604030504040204" pitchFamily="50" charset="-128"/>
                <a:cs typeface="Space Grotesk" pitchFamily="34" charset="-120"/>
              </a:rPr>
              <a:t>LGGNet: Local-Global-Graph Representations</a:t>
            </a:r>
            <a:endParaRPr lang="en-US" sz="3512" dirty="0">
              <a:latin typeface="メイリオ" panose="020B0604030504040204" pitchFamily="50" charset="-128"/>
              <a:ea typeface="メイリオ" panose="020B0604030504040204" pitchFamily="50" charset="-128"/>
            </a:endParaRPr>
          </a:p>
        </p:txBody>
      </p:sp>
      <p:sp>
        <p:nvSpPr>
          <p:cNvPr id="7" name="Text 3"/>
          <p:cNvSpPr/>
          <p:nvPr/>
        </p:nvSpPr>
        <p:spPr>
          <a:xfrm>
            <a:off x="1071563" y="3277530"/>
            <a:ext cx="6429375" cy="282129"/>
          </a:xfrm>
          <a:prstGeom prst="rect">
            <a:avLst/>
          </a:prstGeom>
          <a:noFill/>
          <a:ln/>
        </p:spPr>
        <p:txBody>
          <a:bodyPr wrap="square" lIns="0" tIns="0" rIns="0" bIns="0" rtlCol="0" anchor="t">
            <a:spAutoFit/>
          </a:bodyPr>
          <a:lstStyle/>
          <a:p>
            <a:pPr marL="0" indent="0" algn="ctr">
              <a:lnSpc>
                <a:spcPts val="2200"/>
              </a:lnSpc>
              <a:buNone/>
            </a:pPr>
            <a:r>
              <a:rPr lang="en-US" sz="1704" dirty="0">
                <a:solidFill>
                  <a:srgbClr val="B2DFDB"/>
                </a:solidFill>
                <a:latin typeface="メイリオ" panose="020B0604030504040204" pitchFamily="50" charset="-128"/>
                <a:ea typeface="メイリオ" panose="020B0604030504040204" pitchFamily="50" charset="-128"/>
                <a:cs typeface="Inter" pitchFamily="34" charset="-120"/>
              </a:rPr>
              <a:t>脳の「地図」をネットワークに組み込む：初心者向け完全解説</a:t>
            </a:r>
            <a:endParaRPr lang="en-US" sz="1704" dirty="0">
              <a:latin typeface="メイリオ" panose="020B0604030504040204" pitchFamily="50" charset="-128"/>
              <a:ea typeface="メイリオ" panose="020B0604030504040204" pitchFamily="50" charset="-128"/>
            </a:endParaRPr>
          </a:p>
        </p:txBody>
      </p:sp>
      <p:pic>
        <p:nvPicPr>
          <p:cNvPr id="8" name="Image 2" descr="preencoded.png"/>
          <p:cNvPicPr>
            <a:picLocks noChangeAspect="1"/>
          </p:cNvPicPr>
          <p:nvPr/>
        </p:nvPicPr>
        <p:blipFill>
          <a:blip r:embed="rId5"/>
          <a:stretch>
            <a:fillRect/>
          </a:stretch>
        </p:blipFill>
        <p:spPr>
          <a:xfrm>
            <a:off x="2235994" y="4503576"/>
            <a:ext cx="178594" cy="142875"/>
          </a:xfrm>
          <a:prstGeom prst="rect">
            <a:avLst/>
          </a:prstGeom>
        </p:spPr>
      </p:pic>
      <p:sp>
        <p:nvSpPr>
          <p:cNvPr id="9" name="Text 4"/>
          <p:cNvSpPr/>
          <p:nvPr/>
        </p:nvSpPr>
        <p:spPr>
          <a:xfrm>
            <a:off x="2502524" y="4488396"/>
            <a:ext cx="2292294" cy="179536"/>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E0F2F1"/>
                </a:solidFill>
                <a:latin typeface="メイリオ" panose="020B0604030504040204" pitchFamily="50" charset="-128"/>
                <a:ea typeface="メイリオ" panose="020B0604030504040204" pitchFamily="50" charset="-128"/>
                <a:cs typeface="Inter" pitchFamily="34" charset="-120"/>
              </a:rPr>
              <a:t>Yi Ding, Cuntai Guan, et al. (2024)</a:t>
            </a:r>
            <a:endParaRPr lang="en-US" sz="1050" dirty="0">
              <a:latin typeface="メイリオ" panose="020B0604030504040204" pitchFamily="50" charset="-128"/>
              <a:ea typeface="メイリオ" panose="020B0604030504040204" pitchFamily="50" charset="-128"/>
            </a:endParaRPr>
          </a:p>
        </p:txBody>
      </p:sp>
      <p:pic>
        <p:nvPicPr>
          <p:cNvPr id="10" name="Image 3" descr="preencoded.png"/>
          <p:cNvPicPr>
            <a:picLocks noChangeAspect="1"/>
          </p:cNvPicPr>
          <p:nvPr/>
        </p:nvPicPr>
        <p:blipFill>
          <a:blip r:embed="rId6"/>
          <a:stretch>
            <a:fillRect/>
          </a:stretch>
        </p:blipFill>
        <p:spPr>
          <a:xfrm>
            <a:off x="5082778" y="4503576"/>
            <a:ext cx="178594" cy="142875"/>
          </a:xfrm>
          <a:prstGeom prst="rect">
            <a:avLst/>
          </a:prstGeom>
        </p:spPr>
      </p:pic>
      <p:sp>
        <p:nvSpPr>
          <p:cNvPr id="11" name="Text 5"/>
          <p:cNvSpPr/>
          <p:nvPr/>
        </p:nvSpPr>
        <p:spPr>
          <a:xfrm>
            <a:off x="5274366" y="4503576"/>
            <a:ext cx="2226572" cy="179536"/>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E0F2F1"/>
                </a:solidFill>
                <a:latin typeface="メイリオ" panose="020B0604030504040204" pitchFamily="50" charset="-128"/>
                <a:ea typeface="メイリオ" panose="020B0604030504040204" pitchFamily="50" charset="-128"/>
                <a:cs typeface="Inter" pitchFamily="34" charset="-120"/>
              </a:rPr>
              <a:t>Presented by</a:t>
            </a:r>
            <a:r>
              <a:rPr lang="ja-JP" altLang="en-US" sz="1050" dirty="0">
                <a:solidFill>
                  <a:srgbClr val="E0F2F1"/>
                </a:solidFill>
                <a:latin typeface="メイリオ" panose="020B0604030504040204" pitchFamily="50" charset="-128"/>
                <a:ea typeface="メイリオ" panose="020B0604030504040204" pitchFamily="50" charset="-128"/>
                <a:cs typeface="Inter" pitchFamily="34" charset="-120"/>
              </a:rPr>
              <a:t> </a:t>
            </a:r>
            <a:r>
              <a:rPr lang="en-US" altLang="ja-JP" sz="1050" dirty="0">
                <a:solidFill>
                  <a:srgbClr val="E0F2F1"/>
                </a:solidFill>
                <a:latin typeface="メイリオ" panose="020B0604030504040204" pitchFamily="50" charset="-128"/>
                <a:ea typeface="メイリオ" panose="020B0604030504040204" pitchFamily="50" charset="-128"/>
                <a:cs typeface="Inter" pitchFamily="34" charset="-120"/>
              </a:rPr>
              <a:t>Kazuyuki</a:t>
            </a:r>
            <a:r>
              <a:rPr lang="ja-JP" altLang="en-US" sz="1050" dirty="0">
                <a:solidFill>
                  <a:srgbClr val="E0F2F1"/>
                </a:solidFill>
                <a:latin typeface="メイリオ" panose="020B0604030504040204" pitchFamily="50" charset="-128"/>
                <a:ea typeface="メイリオ" panose="020B0604030504040204" pitchFamily="50" charset="-128"/>
                <a:cs typeface="Inter" pitchFamily="34" charset="-120"/>
              </a:rPr>
              <a:t> </a:t>
            </a:r>
            <a:r>
              <a:rPr lang="en-US" altLang="ja-JP" sz="1050" dirty="0">
                <a:solidFill>
                  <a:srgbClr val="E0F2F1"/>
                </a:solidFill>
                <a:latin typeface="メイリオ" panose="020B0604030504040204" pitchFamily="50" charset="-128"/>
                <a:ea typeface="メイリオ" panose="020B0604030504040204" pitchFamily="50" charset="-128"/>
                <a:cs typeface="Inter" pitchFamily="34" charset="-120"/>
              </a:rPr>
              <a:t>Yoshikawa</a:t>
            </a:r>
            <a:endParaRPr lang="en-US" sz="105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405408"/>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FFD700"/>
                </a:solidFill>
                <a:latin typeface="Space Grotesk" pitchFamily="34" charset="0"/>
                <a:ea typeface="Space Grotesk" pitchFamily="34" charset="-122"/>
                <a:cs typeface="Space Grotesk" pitchFamily="34" charset="-120"/>
              </a:rPr>
              <a:t>背景 - 脳の「機能領域」をどう捉えるか？</a:t>
            </a:r>
            <a:endParaRPr lang="en-US" sz="2121" dirty="0"/>
          </a:p>
        </p:txBody>
      </p:sp>
      <p:sp>
        <p:nvSpPr>
          <p:cNvPr id="4" name="Text 1"/>
          <p:cNvSpPr/>
          <p:nvPr/>
        </p:nvSpPr>
        <p:spPr>
          <a:xfrm>
            <a:off x="428625" y="976908"/>
            <a:ext cx="7858125" cy="502909"/>
          </a:xfrm>
          <a:prstGeom prst="rect">
            <a:avLst/>
          </a:prstGeom>
          <a:noFill/>
          <a:ln/>
        </p:spPr>
        <p:txBody>
          <a:bodyPr wrap="square" lIns="0" tIns="0" rIns="0" bIns="0" rtlCol="0" anchor="t">
            <a:spAutoFit/>
          </a:bodyPr>
          <a:lstStyle/>
          <a:p>
            <a:pPr marL="0" indent="0" algn="l">
              <a:lnSpc>
                <a:spcPts val="2000"/>
              </a:lnSpc>
              <a:buNone/>
            </a:pPr>
            <a:r>
              <a:rPr lang="en-US" sz="1159" dirty="0">
                <a:solidFill>
                  <a:srgbClr val="B2DFDB"/>
                </a:solidFill>
                <a:latin typeface="Inter" pitchFamily="34" charset="0"/>
                <a:ea typeface="Inter" pitchFamily="34" charset="-122"/>
                <a:cs typeface="Inter" pitchFamily="34" charset="-120"/>
              </a:rPr>
              <a:t>脳は注意、感情、運動など、特定の機能を担う「機能領域」に分かれています。LGGNetは、単にデータを学習するだけでなく、この脳の</a:t>
            </a:r>
            <a:r>
              <a:rPr lang="en-US" sz="1090" b="1" dirty="0">
                <a:solidFill>
                  <a:srgbClr val="FFD700"/>
                </a:solidFill>
                <a:latin typeface="Inter" pitchFamily="34" charset="0"/>
                <a:ea typeface="Inter" pitchFamily="34" charset="-122"/>
                <a:cs typeface="Inter" pitchFamily="34" charset="-120"/>
              </a:rPr>
              <a:t>構造的・機能的地図</a:t>
            </a:r>
            <a:r>
              <a:rPr lang="en-US" sz="1159" dirty="0">
                <a:solidFill>
                  <a:srgbClr val="B2DFDB"/>
                </a:solidFill>
                <a:latin typeface="Inter" pitchFamily="34" charset="0"/>
                <a:ea typeface="Inter" pitchFamily="34" charset="-122"/>
                <a:cs typeface="Inter" pitchFamily="34" charset="-120"/>
              </a:rPr>
              <a:t>をネットワークの設計図として直接組み込みます。</a:t>
            </a:r>
            <a:endParaRPr lang="en-US" sz="1159" dirty="0"/>
          </a:p>
        </p:txBody>
      </p:sp>
      <p:sp>
        <p:nvSpPr>
          <p:cNvPr id="5" name="Shape 2"/>
          <p:cNvSpPr/>
          <p:nvPr/>
        </p:nvSpPr>
        <p:spPr>
          <a:xfrm>
            <a:off x="428625" y="1765567"/>
            <a:ext cx="8286750" cy="2114550"/>
          </a:xfrm>
          <a:prstGeom prst="rect">
            <a:avLst/>
          </a:prstGeom>
          <a:solidFill>
            <a:srgbClr val="004D40"/>
          </a:solidFill>
          <a:ln w="9144">
            <a:solidFill>
              <a:srgbClr val="063131"/>
            </a:solidFill>
            <a:prstDash val="solid"/>
          </a:ln>
        </p:spPr>
        <p:txBody>
          <a:bodyPr/>
          <a:lstStyle/>
          <a:p>
            <a:endParaRPr lang="ja-JP" altLang="en-US"/>
          </a:p>
        </p:txBody>
      </p:sp>
      <p:sp>
        <p:nvSpPr>
          <p:cNvPr id="6" name="Shape 3"/>
          <p:cNvSpPr/>
          <p:nvPr/>
        </p:nvSpPr>
        <p:spPr>
          <a:xfrm>
            <a:off x="1000125" y="1765567"/>
            <a:ext cx="1477333" cy="542925"/>
          </a:xfrm>
          <a:prstGeom prst="rect">
            <a:avLst/>
          </a:prstGeom>
          <a:solidFill>
            <a:srgbClr val="063131"/>
          </a:solidFill>
          <a:ln/>
        </p:spPr>
        <p:txBody>
          <a:bodyPr/>
          <a:lstStyle/>
          <a:p>
            <a:endParaRPr lang="ja-JP" altLang="en-US"/>
          </a:p>
        </p:txBody>
      </p:sp>
      <p:sp>
        <p:nvSpPr>
          <p:cNvPr id="7" name="Shape 4"/>
          <p:cNvSpPr/>
          <p:nvPr/>
        </p:nvSpPr>
        <p:spPr>
          <a:xfrm>
            <a:off x="1000125" y="2301348"/>
            <a:ext cx="1477333" cy="7144"/>
          </a:xfrm>
          <a:prstGeom prst="rect">
            <a:avLst/>
          </a:prstGeom>
          <a:solidFill>
            <a:srgbClr val="063131"/>
          </a:solidFill>
          <a:ln/>
        </p:spPr>
        <p:txBody>
          <a:bodyPr/>
          <a:lstStyle/>
          <a:p>
            <a:endParaRPr lang="ja-JP" altLang="en-US"/>
          </a:p>
        </p:txBody>
      </p:sp>
      <p:sp>
        <p:nvSpPr>
          <p:cNvPr id="8" name="Text 5"/>
          <p:cNvSpPr/>
          <p:nvPr/>
        </p:nvSpPr>
        <p:spPr>
          <a:xfrm>
            <a:off x="1000125" y="1765567"/>
            <a:ext cx="1477333" cy="542925"/>
          </a:xfrm>
          <a:prstGeom prst="rect">
            <a:avLst/>
          </a:prstGeom>
          <a:noFill/>
          <a:ln/>
        </p:spPr>
        <p:txBody>
          <a:bodyPr wrap="square" lIns="204089" tIns="204089" rIns="204089" bIns="204089" rtlCol="0" anchor="ctr">
            <a:spAutoFit/>
          </a:bodyPr>
          <a:lstStyle/>
          <a:p>
            <a:pPr marL="0" indent="0" algn="l">
              <a:lnSpc>
                <a:spcPts val="1400"/>
              </a:lnSpc>
              <a:buNone/>
            </a:pPr>
            <a:r>
              <a:rPr lang="en-US" sz="987" b="1" dirty="0">
                <a:solidFill>
                  <a:srgbClr val="FFD700"/>
                </a:solidFill>
                <a:latin typeface="Space Grotesk" pitchFamily="34" charset="0"/>
                <a:ea typeface="Space Grotesk" pitchFamily="34" charset="-122"/>
                <a:cs typeface="Space Grotesk" pitchFamily="34" charset="-120"/>
              </a:rPr>
              <a:t>特徴</a:t>
            </a:r>
            <a:endParaRPr lang="en-US" sz="987" dirty="0"/>
          </a:p>
        </p:txBody>
      </p:sp>
      <p:sp>
        <p:nvSpPr>
          <p:cNvPr id="9" name="Shape 6"/>
          <p:cNvSpPr/>
          <p:nvPr/>
        </p:nvSpPr>
        <p:spPr>
          <a:xfrm>
            <a:off x="2477458" y="1765567"/>
            <a:ext cx="3176485" cy="542925"/>
          </a:xfrm>
          <a:prstGeom prst="rect">
            <a:avLst/>
          </a:prstGeom>
          <a:solidFill>
            <a:srgbClr val="063131"/>
          </a:solidFill>
          <a:ln/>
        </p:spPr>
        <p:txBody>
          <a:bodyPr/>
          <a:lstStyle/>
          <a:p>
            <a:endParaRPr lang="ja-JP" altLang="en-US"/>
          </a:p>
        </p:txBody>
      </p:sp>
      <p:sp>
        <p:nvSpPr>
          <p:cNvPr id="10" name="Shape 7"/>
          <p:cNvSpPr/>
          <p:nvPr/>
        </p:nvSpPr>
        <p:spPr>
          <a:xfrm>
            <a:off x="2477458" y="2301348"/>
            <a:ext cx="3176485" cy="7144"/>
          </a:xfrm>
          <a:prstGeom prst="rect">
            <a:avLst/>
          </a:prstGeom>
          <a:solidFill>
            <a:srgbClr val="063131"/>
          </a:solidFill>
          <a:ln/>
        </p:spPr>
        <p:txBody>
          <a:bodyPr/>
          <a:lstStyle/>
          <a:p>
            <a:endParaRPr lang="ja-JP" altLang="en-US"/>
          </a:p>
        </p:txBody>
      </p:sp>
      <p:sp>
        <p:nvSpPr>
          <p:cNvPr id="11" name="Text 8"/>
          <p:cNvSpPr/>
          <p:nvPr/>
        </p:nvSpPr>
        <p:spPr>
          <a:xfrm>
            <a:off x="2477458" y="1765567"/>
            <a:ext cx="3176485" cy="542925"/>
          </a:xfrm>
          <a:prstGeom prst="rect">
            <a:avLst/>
          </a:prstGeom>
          <a:noFill/>
          <a:ln/>
        </p:spPr>
        <p:txBody>
          <a:bodyPr wrap="square" lIns="204089" tIns="204089" rIns="204089" bIns="204089" rtlCol="0" anchor="ctr">
            <a:spAutoFit/>
          </a:bodyPr>
          <a:lstStyle/>
          <a:p>
            <a:pPr marL="0" indent="0" algn="l">
              <a:lnSpc>
                <a:spcPts val="1400"/>
              </a:lnSpc>
              <a:buNone/>
            </a:pPr>
            <a:r>
              <a:rPr lang="en-US" sz="987" b="1" dirty="0">
                <a:solidFill>
                  <a:srgbClr val="FFD700"/>
                </a:solidFill>
                <a:latin typeface="Space Grotesk" pitchFamily="34" charset="0"/>
                <a:ea typeface="Space Grotesk" pitchFamily="34" charset="-122"/>
                <a:cs typeface="Space Grotesk" pitchFamily="34" charset="-120"/>
              </a:rPr>
              <a:t>従来のGNN (DGCNNなど)</a:t>
            </a:r>
            <a:endParaRPr lang="en-US" sz="987" dirty="0"/>
          </a:p>
        </p:txBody>
      </p:sp>
      <p:sp>
        <p:nvSpPr>
          <p:cNvPr id="12" name="Shape 9"/>
          <p:cNvSpPr/>
          <p:nvPr/>
        </p:nvSpPr>
        <p:spPr>
          <a:xfrm>
            <a:off x="5653943" y="1765567"/>
            <a:ext cx="3061432" cy="542925"/>
          </a:xfrm>
          <a:prstGeom prst="rect">
            <a:avLst/>
          </a:prstGeom>
          <a:solidFill>
            <a:srgbClr val="063131"/>
          </a:solidFill>
          <a:ln/>
        </p:spPr>
        <p:txBody>
          <a:bodyPr/>
          <a:lstStyle/>
          <a:p>
            <a:endParaRPr lang="ja-JP" altLang="en-US"/>
          </a:p>
        </p:txBody>
      </p:sp>
      <p:sp>
        <p:nvSpPr>
          <p:cNvPr id="13" name="Shape 10"/>
          <p:cNvSpPr/>
          <p:nvPr/>
        </p:nvSpPr>
        <p:spPr>
          <a:xfrm>
            <a:off x="5653943" y="2301348"/>
            <a:ext cx="3061432" cy="7144"/>
          </a:xfrm>
          <a:prstGeom prst="rect">
            <a:avLst/>
          </a:prstGeom>
          <a:solidFill>
            <a:srgbClr val="063131"/>
          </a:solidFill>
          <a:ln/>
        </p:spPr>
        <p:txBody>
          <a:bodyPr/>
          <a:lstStyle/>
          <a:p>
            <a:endParaRPr lang="ja-JP" altLang="en-US"/>
          </a:p>
        </p:txBody>
      </p:sp>
      <p:sp>
        <p:nvSpPr>
          <p:cNvPr id="14" name="Text 11"/>
          <p:cNvSpPr/>
          <p:nvPr/>
        </p:nvSpPr>
        <p:spPr>
          <a:xfrm>
            <a:off x="5653943" y="1765567"/>
            <a:ext cx="3061432" cy="542925"/>
          </a:xfrm>
          <a:prstGeom prst="rect">
            <a:avLst/>
          </a:prstGeom>
          <a:noFill/>
          <a:ln/>
        </p:spPr>
        <p:txBody>
          <a:bodyPr wrap="square" lIns="204089" tIns="204089" rIns="204089" bIns="204089" rtlCol="0" anchor="ctr">
            <a:spAutoFit/>
          </a:bodyPr>
          <a:lstStyle/>
          <a:p>
            <a:pPr marL="0" indent="0" algn="l">
              <a:lnSpc>
                <a:spcPts val="1400"/>
              </a:lnSpc>
              <a:buNone/>
            </a:pPr>
            <a:r>
              <a:rPr lang="en-US" sz="987" b="1" dirty="0">
                <a:solidFill>
                  <a:srgbClr val="FFD700"/>
                </a:solidFill>
                <a:latin typeface="Space Grotesk" pitchFamily="34" charset="0"/>
                <a:ea typeface="Space Grotesk" pitchFamily="34" charset="-122"/>
                <a:cs typeface="Space Grotesk" pitchFamily="34" charset="-120"/>
              </a:rPr>
              <a:t>LGGNET (提案手法)</a:t>
            </a:r>
            <a:endParaRPr lang="en-US" sz="987" dirty="0"/>
          </a:p>
        </p:txBody>
      </p:sp>
      <p:pic>
        <p:nvPicPr>
          <p:cNvPr id="15" name="Image 1" descr="preencoded.png"/>
          <p:cNvPicPr>
            <a:picLocks noChangeAspect="1"/>
          </p:cNvPicPr>
          <p:nvPr/>
        </p:nvPicPr>
        <p:blipFill>
          <a:blip r:embed="rId4"/>
          <a:stretch>
            <a:fillRect/>
          </a:stretch>
        </p:blipFill>
        <p:spPr>
          <a:xfrm>
            <a:off x="600075" y="2493336"/>
            <a:ext cx="144661" cy="128588"/>
          </a:xfrm>
          <a:prstGeom prst="rect">
            <a:avLst/>
          </a:prstGeom>
        </p:spPr>
      </p:pic>
      <p:sp>
        <p:nvSpPr>
          <p:cNvPr id="16" name="Text 12"/>
          <p:cNvSpPr/>
          <p:nvPr/>
        </p:nvSpPr>
        <p:spPr>
          <a:xfrm>
            <a:off x="1000125" y="2301348"/>
            <a:ext cx="1477333" cy="521494"/>
          </a:xfrm>
          <a:prstGeom prst="rect">
            <a:avLst/>
          </a:prstGeom>
          <a:noFill/>
          <a:ln/>
        </p:spPr>
        <p:txBody>
          <a:bodyPr wrap="square" lIns="204089" tIns="204089" rIns="204089" bIns="204089" rtlCol="0" anchor="ctr">
            <a:spAutoFit/>
          </a:bodyPr>
          <a:lstStyle/>
          <a:p>
            <a:pPr marL="0" indent="0" algn="l">
              <a:lnSpc>
                <a:spcPts val="1200"/>
              </a:lnSpc>
              <a:buNone/>
            </a:pPr>
            <a:r>
              <a:rPr lang="en-US" sz="885" b="1" dirty="0">
                <a:solidFill>
                  <a:srgbClr val="FFD700"/>
                </a:solidFill>
                <a:latin typeface="Inter" pitchFamily="34" charset="0"/>
                <a:ea typeface="Inter" pitchFamily="34" charset="-122"/>
                <a:cs typeface="Inter" pitchFamily="34" charset="-120"/>
              </a:rPr>
              <a:t>グラフ構造</a:t>
            </a:r>
            <a:endParaRPr lang="en-US" sz="885" dirty="0"/>
          </a:p>
        </p:txBody>
      </p:sp>
      <p:sp>
        <p:nvSpPr>
          <p:cNvPr id="17" name="Text 13"/>
          <p:cNvSpPr/>
          <p:nvPr/>
        </p:nvSpPr>
        <p:spPr>
          <a:xfrm>
            <a:off x="2477458" y="2301348"/>
            <a:ext cx="3176485" cy="521494"/>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全チャンネルを一つのグラフとして扱う</a:t>
            </a:r>
            <a:endParaRPr lang="en-US" sz="942" dirty="0"/>
          </a:p>
        </p:txBody>
      </p:sp>
      <p:sp>
        <p:nvSpPr>
          <p:cNvPr id="18" name="Text 14"/>
          <p:cNvSpPr/>
          <p:nvPr/>
        </p:nvSpPr>
        <p:spPr>
          <a:xfrm>
            <a:off x="5653943" y="2301348"/>
            <a:ext cx="3061432" cy="521494"/>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領域内(Local)と領域間(Global)の2段階</a:t>
            </a:r>
            <a:endParaRPr lang="en-US" sz="942" dirty="0"/>
          </a:p>
        </p:txBody>
      </p:sp>
      <p:pic>
        <p:nvPicPr>
          <p:cNvPr id="19" name="Image 2" descr="preencoded.png"/>
          <p:cNvPicPr>
            <a:picLocks noChangeAspect="1"/>
          </p:cNvPicPr>
          <p:nvPr/>
        </p:nvPicPr>
        <p:blipFill>
          <a:blip r:embed="rId5"/>
          <a:stretch>
            <a:fillRect/>
          </a:stretch>
        </p:blipFill>
        <p:spPr>
          <a:xfrm>
            <a:off x="600075" y="3014830"/>
            <a:ext cx="128588" cy="128588"/>
          </a:xfrm>
          <a:prstGeom prst="rect">
            <a:avLst/>
          </a:prstGeom>
        </p:spPr>
      </p:pic>
      <p:sp>
        <p:nvSpPr>
          <p:cNvPr id="20" name="Text 15"/>
          <p:cNvSpPr/>
          <p:nvPr/>
        </p:nvSpPr>
        <p:spPr>
          <a:xfrm>
            <a:off x="1000125" y="2822842"/>
            <a:ext cx="1477333" cy="521494"/>
          </a:xfrm>
          <a:prstGeom prst="rect">
            <a:avLst/>
          </a:prstGeom>
          <a:noFill/>
          <a:ln/>
        </p:spPr>
        <p:txBody>
          <a:bodyPr wrap="square" lIns="204089" tIns="204089" rIns="204089" bIns="204089" rtlCol="0" anchor="ctr">
            <a:spAutoFit/>
          </a:bodyPr>
          <a:lstStyle/>
          <a:p>
            <a:pPr marL="0" indent="0" algn="l">
              <a:lnSpc>
                <a:spcPts val="1200"/>
              </a:lnSpc>
              <a:buNone/>
            </a:pPr>
            <a:r>
              <a:rPr lang="en-US" sz="885" b="1" dirty="0">
                <a:solidFill>
                  <a:srgbClr val="FFD700"/>
                </a:solidFill>
                <a:latin typeface="Inter" pitchFamily="34" charset="0"/>
                <a:ea typeface="Inter" pitchFamily="34" charset="-122"/>
                <a:cs typeface="Inter" pitchFamily="34" charset="-120"/>
              </a:rPr>
              <a:t>設計思想</a:t>
            </a:r>
            <a:endParaRPr lang="en-US" sz="885" dirty="0"/>
          </a:p>
        </p:txBody>
      </p:sp>
      <p:sp>
        <p:nvSpPr>
          <p:cNvPr id="21" name="Text 16"/>
          <p:cNvSpPr/>
          <p:nvPr/>
        </p:nvSpPr>
        <p:spPr>
          <a:xfrm>
            <a:off x="2477458" y="2822842"/>
            <a:ext cx="3176485" cy="521494"/>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データ駆動（自動学習）</a:t>
            </a:r>
            <a:endParaRPr lang="en-US" sz="942" dirty="0"/>
          </a:p>
        </p:txBody>
      </p:sp>
      <p:sp>
        <p:nvSpPr>
          <p:cNvPr id="22" name="Text 17"/>
          <p:cNvSpPr/>
          <p:nvPr/>
        </p:nvSpPr>
        <p:spPr>
          <a:xfrm>
            <a:off x="5653943" y="2822842"/>
            <a:ext cx="3061432" cy="521494"/>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神経科学の知見 + データ駆動</a:t>
            </a:r>
            <a:endParaRPr lang="en-US" sz="942" dirty="0"/>
          </a:p>
        </p:txBody>
      </p:sp>
      <p:pic>
        <p:nvPicPr>
          <p:cNvPr id="23" name="Image 3" descr="preencoded.png"/>
          <p:cNvPicPr>
            <a:picLocks noChangeAspect="1"/>
          </p:cNvPicPr>
          <p:nvPr/>
        </p:nvPicPr>
        <p:blipFill>
          <a:blip r:embed="rId6"/>
          <a:stretch>
            <a:fillRect/>
          </a:stretch>
        </p:blipFill>
        <p:spPr>
          <a:xfrm>
            <a:off x="600075" y="3536324"/>
            <a:ext cx="160734" cy="128588"/>
          </a:xfrm>
          <a:prstGeom prst="rect">
            <a:avLst/>
          </a:prstGeom>
        </p:spPr>
      </p:pic>
      <p:sp>
        <p:nvSpPr>
          <p:cNvPr id="24" name="Text 18"/>
          <p:cNvSpPr/>
          <p:nvPr/>
        </p:nvSpPr>
        <p:spPr>
          <a:xfrm>
            <a:off x="1000125" y="3344335"/>
            <a:ext cx="1477333" cy="514350"/>
          </a:xfrm>
          <a:prstGeom prst="rect">
            <a:avLst/>
          </a:prstGeom>
          <a:noFill/>
          <a:ln/>
        </p:spPr>
        <p:txBody>
          <a:bodyPr wrap="square" lIns="204089" tIns="204089" rIns="204089" bIns="204089" rtlCol="0" anchor="ctr">
            <a:spAutoFit/>
          </a:bodyPr>
          <a:lstStyle/>
          <a:p>
            <a:pPr marL="0" indent="0" algn="l">
              <a:lnSpc>
                <a:spcPts val="1200"/>
              </a:lnSpc>
              <a:buNone/>
            </a:pPr>
            <a:r>
              <a:rPr lang="en-US" sz="885" b="1" dirty="0">
                <a:solidFill>
                  <a:srgbClr val="FFD700"/>
                </a:solidFill>
                <a:latin typeface="Inter" pitchFamily="34" charset="0"/>
                <a:ea typeface="Inter" pitchFamily="34" charset="-122"/>
                <a:cs typeface="Inter" pitchFamily="34" charset="-120"/>
              </a:rPr>
              <a:t>電極のつながり</a:t>
            </a:r>
            <a:endParaRPr lang="en-US" sz="885" dirty="0"/>
          </a:p>
        </p:txBody>
      </p:sp>
      <p:sp>
        <p:nvSpPr>
          <p:cNvPr id="25" name="Text 19"/>
          <p:cNvSpPr/>
          <p:nvPr/>
        </p:nvSpPr>
        <p:spPr>
          <a:xfrm>
            <a:off x="2477458" y="3344335"/>
            <a:ext cx="3176485" cy="514350"/>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全電極間の重みを学習</a:t>
            </a:r>
            <a:endParaRPr lang="en-US" sz="942" dirty="0"/>
          </a:p>
        </p:txBody>
      </p:sp>
      <p:sp>
        <p:nvSpPr>
          <p:cNvPr id="26" name="Text 20"/>
          <p:cNvSpPr/>
          <p:nvPr/>
        </p:nvSpPr>
        <p:spPr>
          <a:xfrm>
            <a:off x="5653943" y="3344335"/>
            <a:ext cx="3061432" cy="514350"/>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領域内は密、領域間は動的に結合</a:t>
            </a:r>
            <a:endParaRPr lang="en-US" sz="942" dirty="0"/>
          </a:p>
        </p:txBody>
      </p:sp>
      <p:pic>
        <p:nvPicPr>
          <p:cNvPr id="27" name="Image 4" descr="preencoded.png"/>
          <p:cNvPicPr>
            <a:picLocks noChangeAspect="1"/>
          </p:cNvPicPr>
          <p:nvPr/>
        </p:nvPicPr>
        <p:blipFill>
          <a:blip r:embed="rId7"/>
          <a:stretch>
            <a:fillRect/>
          </a:stretch>
        </p:blipFill>
        <p:spPr>
          <a:xfrm>
            <a:off x="428625" y="4165867"/>
            <a:ext cx="96441" cy="128588"/>
          </a:xfrm>
          <a:prstGeom prst="rect">
            <a:avLst/>
          </a:prstGeom>
        </p:spPr>
      </p:pic>
      <p:sp>
        <p:nvSpPr>
          <p:cNvPr id="28" name="Text 21"/>
          <p:cNvSpPr/>
          <p:nvPr/>
        </p:nvSpPr>
        <p:spPr>
          <a:xfrm>
            <a:off x="632222" y="4144435"/>
            <a:ext cx="5614988" cy="171450"/>
          </a:xfrm>
          <a:prstGeom prst="rect">
            <a:avLst/>
          </a:prstGeom>
          <a:noFill/>
          <a:ln/>
        </p:spPr>
        <p:txBody>
          <a:bodyPr wrap="none" lIns="0" tIns="0" rIns="0" bIns="0" rtlCol="0" anchor="t">
            <a:spAutoFit/>
          </a:bodyPr>
          <a:lstStyle/>
          <a:p>
            <a:pPr marL="0" indent="0" algn="l">
              <a:lnSpc>
                <a:spcPts val="1200"/>
              </a:lnSpc>
              <a:buNone/>
            </a:pPr>
            <a:r>
              <a:rPr lang="en-US" sz="942" i="1" dirty="0">
                <a:solidFill>
                  <a:srgbClr val="FF8F00"/>
                </a:solidFill>
                <a:latin typeface="Inter" pitchFamily="34" charset="0"/>
                <a:ea typeface="Inter" pitchFamily="34" charset="-122"/>
                <a:cs typeface="Inter" pitchFamily="34" charset="-120"/>
              </a:rPr>
              <a:t>「脳の地図」をネットワークに教えることで、より効率的で精度の高い解析が可能になります。</a:t>
            </a:r>
            <a:endParaRPr lang="en-US" sz="94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405408"/>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FFD700"/>
                </a:solidFill>
                <a:latin typeface="Space Grotesk" pitchFamily="34" charset="0"/>
                <a:ea typeface="Space Grotesk" pitchFamily="34" charset="-122"/>
                <a:cs typeface="Space Grotesk" pitchFamily="34" charset="-120"/>
              </a:rPr>
              <a:t>LGGNETの全体像 - 2つの強力なブロック</a:t>
            </a:r>
            <a:endParaRPr lang="en-US" sz="2121" dirty="0"/>
          </a:p>
        </p:txBody>
      </p:sp>
      <p:sp>
        <p:nvSpPr>
          <p:cNvPr id="4" name="Text 1"/>
          <p:cNvSpPr/>
          <p:nvPr/>
        </p:nvSpPr>
        <p:spPr>
          <a:xfrm>
            <a:off x="428625" y="1048345"/>
            <a:ext cx="8286750" cy="212527"/>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B2DFDB"/>
                </a:solidFill>
                <a:latin typeface="Inter" pitchFamily="34" charset="0"/>
                <a:ea typeface="Inter" pitchFamily="34" charset="-122"/>
                <a:cs typeface="Inter" pitchFamily="34" charset="-120"/>
              </a:rPr>
              <a:t>LGGNetは、EEG信号から直接学習するために、</a:t>
            </a:r>
            <a:r>
              <a:rPr lang="en-US" sz="1090" b="1" dirty="0">
                <a:solidFill>
                  <a:srgbClr val="FFD700"/>
                </a:solidFill>
                <a:latin typeface="Inter" pitchFamily="34" charset="0"/>
                <a:ea typeface="Inter" pitchFamily="34" charset="-122"/>
                <a:cs typeface="Inter" pitchFamily="34" charset="-120"/>
              </a:rPr>
              <a:t>時間</a:t>
            </a:r>
            <a:r>
              <a:rPr lang="en-US" sz="1159" dirty="0">
                <a:solidFill>
                  <a:srgbClr val="B2DFDB"/>
                </a:solidFill>
                <a:latin typeface="Inter" pitchFamily="34" charset="0"/>
                <a:ea typeface="Inter" pitchFamily="34" charset="-122"/>
                <a:cs typeface="Inter" pitchFamily="34" charset="-120"/>
              </a:rPr>
              <a:t>と</a:t>
            </a:r>
            <a:r>
              <a:rPr lang="en-US" sz="1090" b="1" dirty="0">
                <a:solidFill>
                  <a:srgbClr val="FFD700"/>
                </a:solidFill>
                <a:latin typeface="Inter" pitchFamily="34" charset="0"/>
                <a:ea typeface="Inter" pitchFamily="34" charset="-122"/>
                <a:cs typeface="Inter" pitchFamily="34" charset="-120"/>
              </a:rPr>
              <a:t>空間</a:t>
            </a:r>
            <a:r>
              <a:rPr lang="en-US" sz="1159" dirty="0">
                <a:solidFill>
                  <a:srgbClr val="B2DFDB"/>
                </a:solidFill>
                <a:latin typeface="Inter" pitchFamily="34" charset="0"/>
                <a:ea typeface="Inter" pitchFamily="34" charset="-122"/>
                <a:cs typeface="Inter" pitchFamily="34" charset="-120"/>
              </a:rPr>
              <a:t>の2つの側面から特徴を抽出します。</a:t>
            </a:r>
            <a:endParaRPr lang="en-US" sz="1159" dirty="0"/>
          </a:p>
        </p:txBody>
      </p:sp>
      <p:sp>
        <p:nvSpPr>
          <p:cNvPr id="5" name="Shape 2"/>
          <p:cNvSpPr/>
          <p:nvPr/>
        </p:nvSpPr>
        <p:spPr>
          <a:xfrm>
            <a:off x="428625" y="1546622"/>
            <a:ext cx="4000500" cy="2857500"/>
          </a:xfrm>
          <a:prstGeom prst="rect">
            <a:avLst/>
          </a:prstGeom>
          <a:solidFill>
            <a:srgbClr val="004D40"/>
          </a:solidFill>
          <a:ln/>
        </p:spPr>
        <p:txBody>
          <a:bodyPr/>
          <a:lstStyle/>
          <a:p>
            <a:endParaRPr lang="ja-JP" altLang="en-US"/>
          </a:p>
        </p:txBody>
      </p:sp>
      <p:sp>
        <p:nvSpPr>
          <p:cNvPr id="6" name="Shape 3"/>
          <p:cNvSpPr/>
          <p:nvPr/>
        </p:nvSpPr>
        <p:spPr>
          <a:xfrm>
            <a:off x="428625" y="1546622"/>
            <a:ext cx="4000500" cy="35719"/>
          </a:xfrm>
          <a:prstGeom prst="rect">
            <a:avLst/>
          </a:prstGeom>
          <a:solidFill>
            <a:srgbClr val="FFD700"/>
          </a:solidFill>
          <a:ln/>
        </p:spPr>
        <p:txBody>
          <a:bodyPr/>
          <a:lstStyle/>
          <a:p>
            <a:endParaRPr lang="ja-JP" altLang="en-US"/>
          </a:p>
        </p:txBody>
      </p:sp>
      <p:pic>
        <p:nvPicPr>
          <p:cNvPr id="7" name="Image 1" descr="preencoded.png"/>
          <p:cNvPicPr>
            <a:picLocks noChangeAspect="1"/>
          </p:cNvPicPr>
          <p:nvPr/>
        </p:nvPicPr>
        <p:blipFill>
          <a:blip r:embed="rId4"/>
          <a:stretch>
            <a:fillRect/>
          </a:stretch>
        </p:blipFill>
        <p:spPr>
          <a:xfrm>
            <a:off x="714375" y="1860054"/>
            <a:ext cx="200025" cy="200025"/>
          </a:xfrm>
          <a:prstGeom prst="rect">
            <a:avLst/>
          </a:prstGeom>
        </p:spPr>
      </p:pic>
      <p:sp>
        <p:nvSpPr>
          <p:cNvPr id="8" name="Text 4"/>
          <p:cNvSpPr/>
          <p:nvPr/>
        </p:nvSpPr>
        <p:spPr>
          <a:xfrm>
            <a:off x="1021556" y="1832372"/>
            <a:ext cx="1687711" cy="255389"/>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D700"/>
                </a:solidFill>
                <a:latin typeface="Space Grotesk" pitchFamily="34" charset="0"/>
                <a:ea typeface="Space Grotesk" pitchFamily="34" charset="-122"/>
                <a:cs typeface="Space Grotesk" pitchFamily="34" charset="-120"/>
              </a:rPr>
              <a:t>TEMPORAL BLOCK</a:t>
            </a:r>
            <a:endParaRPr lang="en-US" sz="1486" dirty="0"/>
          </a:p>
        </p:txBody>
      </p:sp>
      <p:sp>
        <p:nvSpPr>
          <p:cNvPr id="9" name="Text 5"/>
          <p:cNvSpPr/>
          <p:nvPr/>
        </p:nvSpPr>
        <p:spPr>
          <a:xfrm>
            <a:off x="714375" y="2230636"/>
            <a:ext cx="34290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2DFDB"/>
                </a:solidFill>
                <a:latin typeface="Inter" pitchFamily="34" charset="0"/>
                <a:ea typeface="Inter" pitchFamily="34" charset="-122"/>
                <a:cs typeface="Inter" pitchFamily="34" charset="-120"/>
              </a:rPr>
              <a:t>脳波の「時間的な変化」や「周波数（リズム）」を多角的に捉えます。</a:t>
            </a:r>
            <a:endParaRPr lang="en-US" sz="942" dirty="0"/>
          </a:p>
        </p:txBody>
      </p:sp>
      <p:pic>
        <p:nvPicPr>
          <p:cNvPr id="10" name="Image 2" descr="preencoded.png"/>
          <p:cNvPicPr>
            <a:picLocks noChangeAspect="1"/>
          </p:cNvPicPr>
          <p:nvPr/>
        </p:nvPicPr>
        <p:blipFill>
          <a:blip r:embed="rId5"/>
          <a:stretch>
            <a:fillRect/>
          </a:stretch>
        </p:blipFill>
        <p:spPr>
          <a:xfrm>
            <a:off x="714375" y="2963540"/>
            <a:ext cx="62508" cy="100013"/>
          </a:xfrm>
          <a:prstGeom prst="rect">
            <a:avLst/>
          </a:prstGeom>
        </p:spPr>
      </p:pic>
      <p:sp>
        <p:nvSpPr>
          <p:cNvPr id="11" name="Text 6"/>
          <p:cNvSpPr/>
          <p:nvPr/>
        </p:nvSpPr>
        <p:spPr>
          <a:xfrm>
            <a:off x="862608" y="2927821"/>
            <a:ext cx="1587698" cy="171450"/>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マルチスケール1D畳み込み</a:t>
            </a:r>
            <a:endParaRPr lang="en-US" sz="942" dirty="0"/>
          </a:p>
        </p:txBody>
      </p:sp>
      <p:pic>
        <p:nvPicPr>
          <p:cNvPr id="12" name="Image 3" descr="preencoded.png"/>
          <p:cNvPicPr>
            <a:picLocks noChangeAspect="1"/>
          </p:cNvPicPr>
          <p:nvPr/>
        </p:nvPicPr>
        <p:blipFill>
          <a:blip r:embed="rId5"/>
          <a:stretch>
            <a:fillRect/>
          </a:stretch>
        </p:blipFill>
        <p:spPr>
          <a:xfrm>
            <a:off x="714375" y="3220715"/>
            <a:ext cx="62508" cy="100013"/>
          </a:xfrm>
          <a:prstGeom prst="rect">
            <a:avLst/>
          </a:prstGeom>
        </p:spPr>
      </p:pic>
      <p:sp>
        <p:nvSpPr>
          <p:cNvPr id="13" name="Text 7"/>
          <p:cNvSpPr/>
          <p:nvPr/>
        </p:nvSpPr>
        <p:spPr>
          <a:xfrm>
            <a:off x="862608" y="3184996"/>
            <a:ext cx="1703784" cy="171450"/>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アテンションによる特徴統合</a:t>
            </a:r>
            <a:endParaRPr lang="en-US" sz="942" dirty="0"/>
          </a:p>
        </p:txBody>
      </p:sp>
      <p:pic>
        <p:nvPicPr>
          <p:cNvPr id="14" name="Image 4" descr="preencoded.png"/>
          <p:cNvPicPr>
            <a:picLocks noChangeAspect="1"/>
          </p:cNvPicPr>
          <p:nvPr/>
        </p:nvPicPr>
        <p:blipFill>
          <a:blip r:embed="rId5"/>
          <a:stretch>
            <a:fillRect/>
          </a:stretch>
        </p:blipFill>
        <p:spPr>
          <a:xfrm>
            <a:off x="714375" y="3477890"/>
            <a:ext cx="62508" cy="100013"/>
          </a:xfrm>
          <a:prstGeom prst="rect">
            <a:avLst/>
          </a:prstGeom>
        </p:spPr>
      </p:pic>
      <p:sp>
        <p:nvSpPr>
          <p:cNvPr id="15" name="Text 8"/>
          <p:cNvSpPr/>
          <p:nvPr/>
        </p:nvSpPr>
        <p:spPr>
          <a:xfrm>
            <a:off x="862608" y="3442171"/>
            <a:ext cx="1310878" cy="171450"/>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リズムのパワーを抽出</a:t>
            </a:r>
            <a:endParaRPr lang="en-US" sz="942" dirty="0"/>
          </a:p>
        </p:txBody>
      </p:sp>
      <p:sp>
        <p:nvSpPr>
          <p:cNvPr id="16" name="Shape 9"/>
          <p:cNvSpPr/>
          <p:nvPr/>
        </p:nvSpPr>
        <p:spPr>
          <a:xfrm>
            <a:off x="4714875" y="1546622"/>
            <a:ext cx="4000500" cy="2857500"/>
          </a:xfrm>
          <a:prstGeom prst="rect">
            <a:avLst/>
          </a:prstGeom>
          <a:solidFill>
            <a:srgbClr val="004D40"/>
          </a:solidFill>
          <a:ln/>
        </p:spPr>
        <p:txBody>
          <a:bodyPr/>
          <a:lstStyle/>
          <a:p>
            <a:endParaRPr lang="ja-JP" altLang="en-US"/>
          </a:p>
        </p:txBody>
      </p:sp>
      <p:sp>
        <p:nvSpPr>
          <p:cNvPr id="17" name="Shape 10"/>
          <p:cNvSpPr/>
          <p:nvPr/>
        </p:nvSpPr>
        <p:spPr>
          <a:xfrm>
            <a:off x="4714875" y="1546622"/>
            <a:ext cx="4000500" cy="35719"/>
          </a:xfrm>
          <a:prstGeom prst="rect">
            <a:avLst/>
          </a:prstGeom>
          <a:solidFill>
            <a:srgbClr val="FFD700"/>
          </a:solidFill>
          <a:ln/>
        </p:spPr>
        <p:txBody>
          <a:bodyPr/>
          <a:lstStyle/>
          <a:p>
            <a:endParaRPr lang="ja-JP" altLang="en-US"/>
          </a:p>
        </p:txBody>
      </p:sp>
      <p:pic>
        <p:nvPicPr>
          <p:cNvPr id="18" name="Image 5" descr="preencoded.png"/>
          <p:cNvPicPr>
            <a:picLocks noChangeAspect="1"/>
          </p:cNvPicPr>
          <p:nvPr/>
        </p:nvPicPr>
        <p:blipFill>
          <a:blip r:embed="rId6"/>
          <a:stretch>
            <a:fillRect/>
          </a:stretch>
        </p:blipFill>
        <p:spPr>
          <a:xfrm>
            <a:off x="5000625" y="1860054"/>
            <a:ext cx="225028" cy="200025"/>
          </a:xfrm>
          <a:prstGeom prst="rect">
            <a:avLst/>
          </a:prstGeom>
        </p:spPr>
      </p:pic>
      <p:sp>
        <p:nvSpPr>
          <p:cNvPr id="19" name="Text 11"/>
          <p:cNvSpPr/>
          <p:nvPr/>
        </p:nvSpPr>
        <p:spPr>
          <a:xfrm>
            <a:off x="5332809" y="1832372"/>
            <a:ext cx="1309092" cy="255389"/>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D700"/>
                </a:solidFill>
                <a:latin typeface="Space Grotesk" pitchFamily="34" charset="0"/>
                <a:ea typeface="Space Grotesk" pitchFamily="34" charset="-122"/>
                <a:cs typeface="Space Grotesk" pitchFamily="34" charset="-120"/>
              </a:rPr>
              <a:t>GRAPH BLOCK</a:t>
            </a:r>
            <a:endParaRPr lang="en-US" sz="1486" dirty="0"/>
          </a:p>
        </p:txBody>
      </p:sp>
      <p:sp>
        <p:nvSpPr>
          <p:cNvPr id="20" name="Text 12"/>
          <p:cNvSpPr/>
          <p:nvPr/>
        </p:nvSpPr>
        <p:spPr>
          <a:xfrm>
            <a:off x="5000625" y="2230636"/>
            <a:ext cx="34290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2DFDB"/>
                </a:solidFill>
                <a:latin typeface="Inter" pitchFamily="34" charset="0"/>
                <a:ea typeface="Inter" pitchFamily="34" charset="-122"/>
                <a:cs typeface="Inter" pitchFamily="34" charset="-120"/>
              </a:rPr>
              <a:t>脳の「地図」に基づいた、領域内および領域間の関係性をモデル化します。</a:t>
            </a:r>
            <a:endParaRPr lang="en-US" sz="942" dirty="0"/>
          </a:p>
        </p:txBody>
      </p:sp>
      <p:pic>
        <p:nvPicPr>
          <p:cNvPr id="21" name="Image 6" descr="preencoded.png"/>
          <p:cNvPicPr>
            <a:picLocks noChangeAspect="1"/>
          </p:cNvPicPr>
          <p:nvPr/>
        </p:nvPicPr>
        <p:blipFill>
          <a:blip r:embed="rId5"/>
          <a:stretch>
            <a:fillRect/>
          </a:stretch>
        </p:blipFill>
        <p:spPr>
          <a:xfrm>
            <a:off x="5000625" y="2963540"/>
            <a:ext cx="62508" cy="100013"/>
          </a:xfrm>
          <a:prstGeom prst="rect">
            <a:avLst/>
          </a:prstGeom>
        </p:spPr>
      </p:pic>
      <p:sp>
        <p:nvSpPr>
          <p:cNvPr id="22" name="Text 13"/>
          <p:cNvSpPr/>
          <p:nvPr/>
        </p:nvSpPr>
        <p:spPr>
          <a:xfrm>
            <a:off x="5148858" y="2927821"/>
            <a:ext cx="1432322" cy="171450"/>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Local: 機能領域内の集約</a:t>
            </a:r>
            <a:endParaRPr lang="en-US" sz="942" dirty="0"/>
          </a:p>
        </p:txBody>
      </p:sp>
      <p:pic>
        <p:nvPicPr>
          <p:cNvPr id="23" name="Image 7" descr="preencoded.png"/>
          <p:cNvPicPr>
            <a:picLocks noChangeAspect="1"/>
          </p:cNvPicPr>
          <p:nvPr/>
        </p:nvPicPr>
        <p:blipFill>
          <a:blip r:embed="rId5"/>
          <a:stretch>
            <a:fillRect/>
          </a:stretch>
        </p:blipFill>
        <p:spPr>
          <a:xfrm>
            <a:off x="5000625" y="3220715"/>
            <a:ext cx="62508" cy="100013"/>
          </a:xfrm>
          <a:prstGeom prst="rect">
            <a:avLst/>
          </a:prstGeom>
        </p:spPr>
      </p:pic>
      <p:sp>
        <p:nvSpPr>
          <p:cNvPr id="24" name="Text 14"/>
          <p:cNvSpPr/>
          <p:nvPr/>
        </p:nvSpPr>
        <p:spPr>
          <a:xfrm>
            <a:off x="5148858" y="3184996"/>
            <a:ext cx="1623417" cy="171450"/>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Global: 領域間の動的な連携</a:t>
            </a:r>
            <a:endParaRPr lang="en-US" sz="942" dirty="0"/>
          </a:p>
        </p:txBody>
      </p:sp>
      <p:pic>
        <p:nvPicPr>
          <p:cNvPr id="25" name="Image 8" descr="preencoded.png"/>
          <p:cNvPicPr>
            <a:picLocks noChangeAspect="1"/>
          </p:cNvPicPr>
          <p:nvPr/>
        </p:nvPicPr>
        <p:blipFill>
          <a:blip r:embed="rId5"/>
          <a:stretch>
            <a:fillRect/>
          </a:stretch>
        </p:blipFill>
        <p:spPr>
          <a:xfrm>
            <a:off x="5000625" y="3477890"/>
            <a:ext cx="62508" cy="100013"/>
          </a:xfrm>
          <a:prstGeom prst="rect">
            <a:avLst/>
          </a:prstGeom>
        </p:spPr>
      </p:pic>
      <p:sp>
        <p:nvSpPr>
          <p:cNvPr id="26" name="Text 15"/>
          <p:cNvSpPr/>
          <p:nvPr/>
        </p:nvSpPr>
        <p:spPr>
          <a:xfrm>
            <a:off x="5148858" y="3442171"/>
            <a:ext cx="1435894" cy="171450"/>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脳のドメイン知識を活用</a:t>
            </a:r>
            <a:endParaRPr lang="en-US" sz="94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405408"/>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FFD700"/>
                </a:solidFill>
                <a:latin typeface="Space Grotesk" pitchFamily="34" charset="0"/>
                <a:ea typeface="Space Grotesk" pitchFamily="34" charset="-122"/>
                <a:cs typeface="Space Grotesk" pitchFamily="34" charset="-120"/>
              </a:rPr>
              <a:t>TEMPORAL LEARNING BLOCK - 多スケールでの時間解析</a:t>
            </a:r>
            <a:endParaRPr lang="en-US" sz="2121" dirty="0"/>
          </a:p>
        </p:txBody>
      </p:sp>
      <p:sp>
        <p:nvSpPr>
          <p:cNvPr id="4" name="Text 1"/>
          <p:cNvSpPr/>
          <p:nvPr/>
        </p:nvSpPr>
        <p:spPr>
          <a:xfrm>
            <a:off x="428625" y="976908"/>
            <a:ext cx="8286750" cy="385763"/>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B2DFDB"/>
                </a:solidFill>
                <a:latin typeface="Inter" pitchFamily="34" charset="0"/>
                <a:ea typeface="Inter" pitchFamily="34" charset="-122"/>
                <a:cs typeface="Inter" pitchFamily="34" charset="-120"/>
              </a:rPr>
              <a:t>脳波は周波数帯域ごとに異なる意味を持ちます。LGGNetは、複数の異なるサイズのフィルタを並列に使い、それらをアテンションで統合します。</a:t>
            </a:r>
            <a:endParaRPr lang="en-US" sz="1050" dirty="0"/>
          </a:p>
        </p:txBody>
      </p:sp>
      <p:sp>
        <p:nvSpPr>
          <p:cNvPr id="5" name="Shape 2"/>
          <p:cNvSpPr/>
          <p:nvPr/>
        </p:nvSpPr>
        <p:spPr>
          <a:xfrm>
            <a:off x="428625" y="1576983"/>
            <a:ext cx="8286750" cy="1035844"/>
          </a:xfrm>
          <a:prstGeom prst="rect">
            <a:avLst/>
          </a:prstGeom>
          <a:solidFill>
            <a:srgbClr val="004D40"/>
          </a:solidFill>
          <a:ln w="9144">
            <a:solidFill>
              <a:srgbClr val="FFD700"/>
            </a:solidFill>
            <a:prstDash val="solid"/>
          </a:ln>
        </p:spPr>
        <p:txBody>
          <a:bodyPr/>
          <a:lstStyle/>
          <a:p>
            <a:endParaRPr lang="ja-JP" altLang="en-US"/>
          </a:p>
        </p:txBody>
      </p:sp>
      <p:sp>
        <p:nvSpPr>
          <p:cNvPr id="6" name="Text 3"/>
          <p:cNvSpPr/>
          <p:nvPr/>
        </p:nvSpPr>
        <p:spPr>
          <a:xfrm>
            <a:off x="642938" y="1791295"/>
            <a:ext cx="7858125" cy="350044"/>
          </a:xfrm>
          <a:prstGeom prst="rect">
            <a:avLst/>
          </a:prstGeom>
          <a:noFill/>
          <a:ln/>
        </p:spPr>
        <p:txBody>
          <a:bodyPr wrap="none" lIns="0" tIns="0" rIns="0" bIns="0" rtlCol="0" anchor="t">
            <a:spAutoFit/>
          </a:bodyPr>
          <a:lstStyle/>
          <a:p>
            <a:pPr marL="0" indent="0" algn="ctr">
              <a:lnSpc>
                <a:spcPts val="2400"/>
              </a:lnSpc>
              <a:buNone/>
            </a:pPr>
            <a:r>
              <a:rPr lang="en-US" sz="1924" dirty="0">
                <a:solidFill>
                  <a:srgbClr val="FFD700"/>
                </a:solidFill>
                <a:latin typeface="Space Grotesk" pitchFamily="34" charset="0"/>
                <a:ea typeface="Space Grotesk" pitchFamily="34" charset="-122"/>
                <a:cs typeface="Space Grotesk" pitchFamily="34" charset="-120"/>
              </a:rPr>
              <a:t>Zₖ = log(AvgPool(Conv1D(X)²))</a:t>
            </a:r>
            <a:endParaRPr lang="en-US" sz="1924" dirty="0"/>
          </a:p>
        </p:txBody>
      </p:sp>
      <p:sp>
        <p:nvSpPr>
          <p:cNvPr id="7" name="Text 4"/>
          <p:cNvSpPr/>
          <p:nvPr/>
        </p:nvSpPr>
        <p:spPr>
          <a:xfrm>
            <a:off x="642938" y="2212777"/>
            <a:ext cx="7858125" cy="171450"/>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B2DFDB"/>
                </a:solidFill>
                <a:latin typeface="Inter" pitchFamily="34" charset="0"/>
                <a:ea typeface="Inter" pitchFamily="34" charset="-122"/>
                <a:cs typeface="Inter" pitchFamily="34" charset="-120"/>
              </a:rPr>
              <a:t>各時間スケールにおける「パワー（エネルギー）」を抽出する基本式</a:t>
            </a:r>
            <a:endParaRPr lang="en-US" sz="942" dirty="0"/>
          </a:p>
        </p:txBody>
      </p:sp>
      <p:sp>
        <p:nvSpPr>
          <p:cNvPr id="8" name="Shape 5"/>
          <p:cNvSpPr/>
          <p:nvPr/>
        </p:nvSpPr>
        <p:spPr>
          <a:xfrm>
            <a:off x="428625" y="2884289"/>
            <a:ext cx="4036219" cy="1028309"/>
          </a:xfrm>
          <a:prstGeom prst="rect">
            <a:avLst/>
          </a:prstGeom>
          <a:solidFill>
            <a:srgbClr val="063131"/>
          </a:solidFill>
          <a:ln/>
        </p:spPr>
        <p:txBody>
          <a:bodyPr/>
          <a:lstStyle/>
          <a:p>
            <a:endParaRPr lang="ja-JP" altLang="en-US"/>
          </a:p>
        </p:txBody>
      </p:sp>
      <p:sp>
        <p:nvSpPr>
          <p:cNvPr id="9" name="Shape 6"/>
          <p:cNvSpPr/>
          <p:nvPr/>
        </p:nvSpPr>
        <p:spPr>
          <a:xfrm>
            <a:off x="428625" y="2884289"/>
            <a:ext cx="4036219" cy="21431"/>
          </a:xfrm>
          <a:prstGeom prst="rect">
            <a:avLst/>
          </a:prstGeom>
          <a:solidFill>
            <a:srgbClr val="FF8F00"/>
          </a:solidFill>
          <a:ln/>
        </p:spPr>
        <p:txBody>
          <a:bodyPr/>
          <a:lstStyle/>
          <a:p>
            <a:endParaRPr lang="ja-JP" altLang="en-US"/>
          </a:p>
        </p:txBody>
      </p:sp>
      <p:pic>
        <p:nvPicPr>
          <p:cNvPr id="10" name="Image 1" descr="preencoded.png"/>
          <p:cNvPicPr>
            <a:picLocks noChangeAspect="1"/>
          </p:cNvPicPr>
          <p:nvPr/>
        </p:nvPicPr>
        <p:blipFill>
          <a:blip r:embed="rId4"/>
          <a:stretch>
            <a:fillRect/>
          </a:stretch>
        </p:blipFill>
        <p:spPr>
          <a:xfrm>
            <a:off x="600075" y="3083421"/>
            <a:ext cx="196453" cy="157163"/>
          </a:xfrm>
          <a:prstGeom prst="rect">
            <a:avLst/>
          </a:prstGeom>
        </p:spPr>
      </p:pic>
      <p:sp>
        <p:nvSpPr>
          <p:cNvPr id="11" name="Text 7"/>
          <p:cNvSpPr/>
          <p:nvPr/>
        </p:nvSpPr>
        <p:spPr>
          <a:xfrm>
            <a:off x="882253" y="3055739"/>
            <a:ext cx="1927027" cy="212527"/>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FFD700"/>
                </a:solidFill>
                <a:latin typeface="Space Grotesk" pitchFamily="34" charset="0"/>
                <a:ea typeface="Space Grotesk" pitchFamily="34" charset="-122"/>
                <a:cs typeface="Space Grotesk" pitchFamily="34" charset="-120"/>
              </a:rPr>
              <a:t>マルチスケール1D畳み込み</a:t>
            </a:r>
            <a:endParaRPr lang="en-US" sz="1159" dirty="0"/>
          </a:p>
        </p:txBody>
      </p:sp>
      <p:sp>
        <p:nvSpPr>
          <p:cNvPr id="12" name="Text 8"/>
          <p:cNvSpPr/>
          <p:nvPr/>
        </p:nvSpPr>
        <p:spPr>
          <a:xfrm>
            <a:off x="600075" y="3353991"/>
            <a:ext cx="3693319"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2DFDB"/>
                </a:solidFill>
                <a:latin typeface="Inter" pitchFamily="34" charset="0"/>
                <a:ea typeface="Inter" pitchFamily="34" charset="-122"/>
                <a:cs typeface="Inter" pitchFamily="34" charset="-120"/>
              </a:rPr>
              <a:t>異なる長さのカーネルを用いることで、</a:t>
            </a:r>
            <a:r>
              <a:rPr lang="en-US" sz="784" b="1" dirty="0">
                <a:solidFill>
                  <a:srgbClr val="FFD700"/>
                </a:solidFill>
                <a:latin typeface="Inter" pitchFamily="34" charset="0"/>
                <a:ea typeface="Inter" pitchFamily="34" charset="-122"/>
                <a:cs typeface="Inter" pitchFamily="34" charset="-120"/>
              </a:rPr>
              <a:t>δ, θ, α, β, γ</a:t>
            </a:r>
            <a:r>
              <a:rPr lang="en-US" sz="834" dirty="0">
                <a:solidFill>
                  <a:srgbClr val="B2DFDB"/>
                </a:solidFill>
                <a:latin typeface="Inter" pitchFamily="34" charset="0"/>
                <a:ea typeface="Inter" pitchFamily="34" charset="-122"/>
                <a:cs typeface="Inter" pitchFamily="34" charset="-120"/>
              </a:rPr>
              <a:t> といった様々な周波数帯域のリズムを同時に捉えることができます。</a:t>
            </a:r>
            <a:endParaRPr lang="en-US" sz="834" dirty="0"/>
          </a:p>
        </p:txBody>
      </p:sp>
      <p:sp>
        <p:nvSpPr>
          <p:cNvPr id="13" name="Shape 9"/>
          <p:cNvSpPr/>
          <p:nvPr/>
        </p:nvSpPr>
        <p:spPr>
          <a:xfrm>
            <a:off x="4679156" y="2884289"/>
            <a:ext cx="4036219" cy="1028309"/>
          </a:xfrm>
          <a:prstGeom prst="rect">
            <a:avLst/>
          </a:prstGeom>
          <a:solidFill>
            <a:srgbClr val="063131"/>
          </a:solidFill>
          <a:ln/>
        </p:spPr>
        <p:txBody>
          <a:bodyPr/>
          <a:lstStyle/>
          <a:p>
            <a:endParaRPr lang="ja-JP" altLang="en-US"/>
          </a:p>
        </p:txBody>
      </p:sp>
      <p:sp>
        <p:nvSpPr>
          <p:cNvPr id="14" name="Shape 10"/>
          <p:cNvSpPr/>
          <p:nvPr/>
        </p:nvSpPr>
        <p:spPr>
          <a:xfrm>
            <a:off x="4679156" y="2884289"/>
            <a:ext cx="4036219" cy="21431"/>
          </a:xfrm>
          <a:prstGeom prst="rect">
            <a:avLst/>
          </a:prstGeom>
          <a:solidFill>
            <a:srgbClr val="FF8F00"/>
          </a:solidFill>
          <a:ln/>
        </p:spPr>
        <p:txBody>
          <a:bodyPr/>
          <a:lstStyle/>
          <a:p>
            <a:endParaRPr lang="ja-JP" altLang="en-US"/>
          </a:p>
        </p:txBody>
      </p:sp>
      <p:pic>
        <p:nvPicPr>
          <p:cNvPr id="15" name="Image 2" descr="preencoded.png"/>
          <p:cNvPicPr>
            <a:picLocks noChangeAspect="1"/>
          </p:cNvPicPr>
          <p:nvPr/>
        </p:nvPicPr>
        <p:blipFill>
          <a:blip r:embed="rId5"/>
          <a:stretch>
            <a:fillRect/>
          </a:stretch>
        </p:blipFill>
        <p:spPr>
          <a:xfrm>
            <a:off x="4850606" y="3083421"/>
            <a:ext cx="157163" cy="157163"/>
          </a:xfrm>
          <a:prstGeom prst="rect">
            <a:avLst/>
          </a:prstGeom>
        </p:spPr>
      </p:pic>
      <p:sp>
        <p:nvSpPr>
          <p:cNvPr id="16" name="Text 11"/>
          <p:cNvSpPr/>
          <p:nvPr/>
        </p:nvSpPr>
        <p:spPr>
          <a:xfrm>
            <a:off x="5093494" y="3055739"/>
            <a:ext cx="1278731" cy="212527"/>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FFD700"/>
                </a:solidFill>
                <a:latin typeface="Space Grotesk" pitchFamily="34" charset="0"/>
                <a:ea typeface="Space Grotesk" pitchFamily="34" charset="-122"/>
                <a:cs typeface="Space Grotesk" pitchFamily="34" charset="-120"/>
              </a:rPr>
              <a:t>アテンション統合</a:t>
            </a:r>
            <a:endParaRPr lang="en-US" sz="1159" dirty="0"/>
          </a:p>
        </p:txBody>
      </p:sp>
      <p:sp>
        <p:nvSpPr>
          <p:cNvPr id="17" name="Text 12"/>
          <p:cNvSpPr/>
          <p:nvPr/>
        </p:nvSpPr>
        <p:spPr>
          <a:xfrm>
            <a:off x="4850606" y="3353991"/>
            <a:ext cx="3693319"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2DFDB"/>
                </a:solidFill>
                <a:latin typeface="Inter" pitchFamily="34" charset="0"/>
                <a:ea typeface="Inter" pitchFamily="34" charset="-122"/>
                <a:cs typeface="Inter" pitchFamily="34" charset="-120"/>
              </a:rPr>
              <a:t>抽出された複数の時間スケールの特徴に対し、</a:t>
            </a:r>
            <a:r>
              <a:rPr lang="en-US" sz="784" b="1" dirty="0">
                <a:solidFill>
                  <a:srgbClr val="FFD700"/>
                </a:solidFill>
                <a:latin typeface="Inter" pitchFamily="34" charset="0"/>
                <a:ea typeface="Inter" pitchFamily="34" charset="-122"/>
                <a:cs typeface="Inter" pitchFamily="34" charset="-120"/>
              </a:rPr>
              <a:t>どのスケールが現在のタスクに重要か</a:t>
            </a:r>
            <a:r>
              <a:rPr lang="en-US" sz="834" dirty="0">
                <a:solidFill>
                  <a:srgbClr val="B2DFDB"/>
                </a:solidFill>
                <a:latin typeface="Inter" pitchFamily="34" charset="0"/>
                <a:ea typeface="Inter" pitchFamily="34" charset="-122"/>
                <a:cs typeface="Inter" pitchFamily="34" charset="-120"/>
              </a:rPr>
              <a:t>を自動的に重み付けして統合します。</a:t>
            </a:r>
            <a:endParaRPr lang="en-US" sz="834" dirty="0"/>
          </a:p>
        </p:txBody>
      </p:sp>
      <p:pic>
        <p:nvPicPr>
          <p:cNvPr id="18" name="Image 3" descr="preencoded.png"/>
          <p:cNvPicPr>
            <a:picLocks noChangeAspect="1"/>
          </p:cNvPicPr>
          <p:nvPr/>
        </p:nvPicPr>
        <p:blipFill>
          <a:blip r:embed="rId6"/>
          <a:stretch>
            <a:fillRect/>
          </a:stretch>
        </p:blipFill>
        <p:spPr>
          <a:xfrm>
            <a:off x="428625" y="4198348"/>
            <a:ext cx="128588" cy="128588"/>
          </a:xfrm>
          <a:prstGeom prst="rect">
            <a:avLst/>
          </a:prstGeom>
        </p:spPr>
      </p:pic>
      <p:sp>
        <p:nvSpPr>
          <p:cNvPr id="19" name="Text 13"/>
          <p:cNvSpPr/>
          <p:nvPr/>
        </p:nvSpPr>
        <p:spPr>
          <a:xfrm>
            <a:off x="642938" y="4176917"/>
            <a:ext cx="6772275" cy="171450"/>
          </a:xfrm>
          <a:prstGeom prst="rect">
            <a:avLst/>
          </a:prstGeom>
          <a:noFill/>
          <a:ln/>
        </p:spPr>
        <p:txBody>
          <a:bodyPr wrap="none" lIns="0" tIns="0" rIns="0" bIns="0" rtlCol="0" anchor="t">
            <a:spAutoFit/>
          </a:bodyPr>
          <a:lstStyle/>
          <a:p>
            <a:pPr marL="0" indent="0" algn="l">
              <a:lnSpc>
                <a:spcPts val="1200"/>
              </a:lnSpc>
              <a:buNone/>
            </a:pPr>
            <a:r>
              <a:rPr lang="en-US" sz="942" i="1" dirty="0">
                <a:solidFill>
                  <a:srgbClr val="FF8F00"/>
                </a:solidFill>
                <a:latin typeface="Inter" pitchFamily="34" charset="0"/>
                <a:ea typeface="Inter" pitchFamily="34" charset="-122"/>
                <a:cs typeface="Inter" pitchFamily="34" charset="-120"/>
              </a:rPr>
              <a:t>ポイント：二乗して平均を取ることで、信号の振幅の変化（パワー）を効率的に学習可能な形式に変換しています。</a:t>
            </a:r>
            <a:endParaRPr lang="en-US" sz="94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810816"/>
          </a:xfrm>
          <a:prstGeom prst="rect">
            <a:avLst/>
          </a:prstGeom>
          <a:noFill/>
          <a:ln/>
        </p:spPr>
        <p:txBody>
          <a:bodyPr wrap="square" lIns="0" tIns="0" rIns="0" bIns="0" rtlCol="0" anchor="t">
            <a:spAutoFit/>
          </a:bodyPr>
          <a:lstStyle/>
          <a:p>
            <a:pPr marL="0" indent="0" algn="l">
              <a:lnSpc>
                <a:spcPts val="2800"/>
              </a:lnSpc>
              <a:buNone/>
            </a:pPr>
            <a:r>
              <a:rPr lang="en-US" sz="2121" b="1" kern="0" spc="2" dirty="0">
                <a:solidFill>
                  <a:srgbClr val="FFD700"/>
                </a:solidFill>
                <a:latin typeface="Space Grotesk" pitchFamily="34" charset="0"/>
                <a:ea typeface="Space Grotesk" pitchFamily="34" charset="-122"/>
                <a:cs typeface="Space Grotesk" pitchFamily="34" charset="-120"/>
              </a:rPr>
              <a:t>GRAPH LEARNING BLOCK (1) - LOCAL-GRAPH (領域内の集約)</a:t>
            </a:r>
            <a:endParaRPr lang="en-US" sz="2121" dirty="0"/>
          </a:p>
        </p:txBody>
      </p:sp>
      <p:sp>
        <p:nvSpPr>
          <p:cNvPr id="4" name="Shape 1"/>
          <p:cNvSpPr/>
          <p:nvPr/>
        </p:nvSpPr>
        <p:spPr>
          <a:xfrm>
            <a:off x="428625" y="1382316"/>
            <a:ext cx="4036219" cy="1413681"/>
          </a:xfrm>
          <a:prstGeom prst="rect">
            <a:avLst/>
          </a:prstGeom>
          <a:solidFill>
            <a:srgbClr val="004D40"/>
          </a:solidFill>
          <a:ln/>
        </p:spPr>
        <p:txBody>
          <a:bodyPr/>
          <a:lstStyle/>
          <a:p>
            <a:endParaRPr lang="ja-JP" altLang="en-US"/>
          </a:p>
        </p:txBody>
      </p:sp>
      <p:sp>
        <p:nvSpPr>
          <p:cNvPr id="5" name="Shape 2"/>
          <p:cNvSpPr/>
          <p:nvPr/>
        </p:nvSpPr>
        <p:spPr>
          <a:xfrm>
            <a:off x="428625" y="1382316"/>
            <a:ext cx="4036219" cy="28575"/>
          </a:xfrm>
          <a:prstGeom prst="rect">
            <a:avLst/>
          </a:prstGeom>
          <a:solidFill>
            <a:srgbClr val="FFD700"/>
          </a:solidFill>
          <a:ln/>
        </p:spPr>
        <p:txBody>
          <a:bodyPr/>
          <a:lstStyle/>
          <a:p>
            <a:endParaRPr lang="ja-JP" altLang="en-US"/>
          </a:p>
        </p:txBody>
      </p:sp>
      <p:pic>
        <p:nvPicPr>
          <p:cNvPr id="6" name="Image 1" descr="preencoded.png"/>
          <p:cNvPicPr>
            <a:picLocks noChangeAspect="1"/>
          </p:cNvPicPr>
          <p:nvPr/>
        </p:nvPicPr>
        <p:blipFill>
          <a:blip r:embed="rId4"/>
          <a:stretch>
            <a:fillRect/>
          </a:stretch>
        </p:blipFill>
        <p:spPr>
          <a:xfrm>
            <a:off x="642938" y="1626989"/>
            <a:ext cx="171450" cy="171450"/>
          </a:xfrm>
          <a:prstGeom prst="rect">
            <a:avLst/>
          </a:prstGeom>
        </p:spPr>
      </p:pic>
      <p:sp>
        <p:nvSpPr>
          <p:cNvPr id="7" name="Text 3"/>
          <p:cNvSpPr/>
          <p:nvPr/>
        </p:nvSpPr>
        <p:spPr>
          <a:xfrm>
            <a:off x="900113" y="1596628"/>
            <a:ext cx="860822" cy="232172"/>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D700"/>
                </a:solidFill>
                <a:latin typeface="Space Grotesk" pitchFamily="34" charset="0"/>
                <a:ea typeface="Space Grotesk" pitchFamily="34" charset="-122"/>
                <a:cs typeface="Space Grotesk" pitchFamily="34" charset="-120"/>
              </a:rPr>
              <a:t>領域の定義</a:t>
            </a:r>
            <a:endParaRPr lang="en-US" sz="1269" dirty="0"/>
          </a:p>
        </p:txBody>
      </p:sp>
      <p:sp>
        <p:nvSpPr>
          <p:cNvPr id="8" name="Text 4"/>
          <p:cNvSpPr/>
          <p:nvPr/>
        </p:nvSpPr>
        <p:spPr>
          <a:xfrm>
            <a:off x="642938" y="1935956"/>
            <a:ext cx="3607594"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2DFDB"/>
                </a:solidFill>
                <a:latin typeface="Inter" pitchFamily="34" charset="0"/>
                <a:ea typeface="Inter" pitchFamily="34" charset="-122"/>
                <a:cs typeface="Inter" pitchFamily="34" charset="-120"/>
              </a:rPr>
              <a:t>脳の10-20法に基づき、電極を「前頭葉」「側頭葉」などの</a:t>
            </a:r>
            <a:r>
              <a:rPr lang="en-US" sz="885" b="1" dirty="0">
                <a:solidFill>
                  <a:srgbClr val="FFD700"/>
                </a:solidFill>
                <a:latin typeface="Inter" pitchFamily="34" charset="0"/>
                <a:ea typeface="Inter" pitchFamily="34" charset="-122"/>
                <a:cs typeface="Inter" pitchFamily="34" charset="-120"/>
              </a:rPr>
              <a:t>機能領域</a:t>
            </a:r>
            <a:r>
              <a:rPr lang="en-US" sz="942" dirty="0">
                <a:solidFill>
                  <a:srgbClr val="B2DFDB"/>
                </a:solidFill>
                <a:latin typeface="Inter" pitchFamily="34" charset="0"/>
                <a:ea typeface="Inter" pitchFamily="34" charset="-122"/>
                <a:cs typeface="Inter" pitchFamily="34" charset="-120"/>
              </a:rPr>
              <a:t>ごとにグループ化します。同じ領域内の電極は互いに全結合していると見なします。</a:t>
            </a:r>
            <a:endParaRPr lang="en-US" sz="942" dirty="0"/>
          </a:p>
        </p:txBody>
      </p:sp>
      <p:sp>
        <p:nvSpPr>
          <p:cNvPr id="9" name="Shape 5"/>
          <p:cNvSpPr/>
          <p:nvPr/>
        </p:nvSpPr>
        <p:spPr>
          <a:xfrm>
            <a:off x="4679156" y="1382316"/>
            <a:ext cx="4036219" cy="1413681"/>
          </a:xfrm>
          <a:prstGeom prst="rect">
            <a:avLst/>
          </a:prstGeom>
          <a:solidFill>
            <a:srgbClr val="004D40"/>
          </a:solidFill>
          <a:ln/>
        </p:spPr>
        <p:txBody>
          <a:bodyPr/>
          <a:lstStyle/>
          <a:p>
            <a:endParaRPr lang="ja-JP" altLang="en-US"/>
          </a:p>
        </p:txBody>
      </p:sp>
      <p:sp>
        <p:nvSpPr>
          <p:cNvPr id="10" name="Shape 6"/>
          <p:cNvSpPr/>
          <p:nvPr/>
        </p:nvSpPr>
        <p:spPr>
          <a:xfrm>
            <a:off x="4679156" y="1382316"/>
            <a:ext cx="4036219" cy="28575"/>
          </a:xfrm>
          <a:prstGeom prst="rect">
            <a:avLst/>
          </a:prstGeom>
          <a:solidFill>
            <a:srgbClr val="FFD700"/>
          </a:solidFill>
          <a:ln/>
        </p:spPr>
        <p:txBody>
          <a:bodyPr/>
          <a:lstStyle/>
          <a:p>
            <a:endParaRPr lang="ja-JP" altLang="en-US"/>
          </a:p>
        </p:txBody>
      </p:sp>
      <p:pic>
        <p:nvPicPr>
          <p:cNvPr id="11" name="Image 2" descr="preencoded.png"/>
          <p:cNvPicPr>
            <a:picLocks noChangeAspect="1"/>
          </p:cNvPicPr>
          <p:nvPr/>
        </p:nvPicPr>
        <p:blipFill>
          <a:blip r:embed="rId5"/>
          <a:stretch>
            <a:fillRect/>
          </a:stretch>
        </p:blipFill>
        <p:spPr>
          <a:xfrm>
            <a:off x="4893469" y="1626989"/>
            <a:ext cx="171450" cy="171450"/>
          </a:xfrm>
          <a:prstGeom prst="rect">
            <a:avLst/>
          </a:prstGeom>
        </p:spPr>
      </p:pic>
      <p:sp>
        <p:nvSpPr>
          <p:cNvPr id="12" name="Text 7"/>
          <p:cNvSpPr/>
          <p:nvPr/>
        </p:nvSpPr>
        <p:spPr>
          <a:xfrm>
            <a:off x="5150644" y="1596628"/>
            <a:ext cx="860822" cy="232172"/>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D700"/>
                </a:solidFill>
                <a:latin typeface="Space Grotesk" pitchFamily="34" charset="0"/>
                <a:ea typeface="Space Grotesk" pitchFamily="34" charset="-122"/>
                <a:cs typeface="Space Grotesk" pitchFamily="34" charset="-120"/>
              </a:rPr>
              <a:t>情報の集約</a:t>
            </a:r>
            <a:endParaRPr lang="en-US" sz="1269" dirty="0"/>
          </a:p>
        </p:txBody>
      </p:sp>
      <p:sp>
        <p:nvSpPr>
          <p:cNvPr id="13" name="Text 8"/>
          <p:cNvSpPr/>
          <p:nvPr/>
        </p:nvSpPr>
        <p:spPr>
          <a:xfrm>
            <a:off x="4893469" y="1935956"/>
            <a:ext cx="3607594"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2DFDB"/>
                </a:solidFill>
                <a:latin typeface="Inter" pitchFamily="34" charset="0"/>
                <a:ea typeface="Inter" pitchFamily="34" charset="-122"/>
                <a:cs typeface="Inter" pitchFamily="34" charset="-120"/>
              </a:rPr>
              <a:t>各領域内の複数の電極情報を一つにまとめます。LGGNetでは</a:t>
            </a:r>
            <a:r>
              <a:rPr lang="en-US" sz="885" b="1" dirty="0">
                <a:solidFill>
                  <a:srgbClr val="FFD700"/>
                </a:solidFill>
                <a:latin typeface="Inter" pitchFamily="34" charset="0"/>
                <a:ea typeface="Inter" pitchFamily="34" charset="-122"/>
                <a:cs typeface="Inter" pitchFamily="34" charset="-120"/>
              </a:rPr>
              <a:t>平均化（Average Pooling）</a:t>
            </a:r>
            <a:r>
              <a:rPr lang="en-US" sz="942" dirty="0">
                <a:solidFill>
                  <a:srgbClr val="B2DFDB"/>
                </a:solidFill>
                <a:latin typeface="Inter" pitchFamily="34" charset="0"/>
                <a:ea typeface="Inter" pitchFamily="34" charset="-122"/>
                <a:cs typeface="Inter" pitchFamily="34" charset="-120"/>
              </a:rPr>
              <a:t>を採用し、領域全体の活動を代表するベクトルを作成します。</a:t>
            </a:r>
            <a:endParaRPr lang="en-US" sz="942" dirty="0"/>
          </a:p>
        </p:txBody>
      </p:sp>
      <p:sp>
        <p:nvSpPr>
          <p:cNvPr id="14" name="Shape 9"/>
          <p:cNvSpPr/>
          <p:nvPr/>
        </p:nvSpPr>
        <p:spPr>
          <a:xfrm>
            <a:off x="428625" y="2853147"/>
            <a:ext cx="8286750" cy="1124778"/>
          </a:xfrm>
          <a:prstGeom prst="rect">
            <a:avLst/>
          </a:prstGeom>
          <a:solidFill>
            <a:srgbClr val="FFD700">
              <a:alpha val="5000"/>
            </a:srgbClr>
          </a:solidFill>
          <a:ln w="9144">
            <a:solidFill>
              <a:srgbClr val="FFD700"/>
            </a:solidFill>
            <a:prstDash val="dash"/>
          </a:ln>
        </p:spPr>
        <p:txBody>
          <a:bodyPr/>
          <a:lstStyle/>
          <a:p>
            <a:endParaRPr lang="ja-JP" altLang="en-US"/>
          </a:p>
        </p:txBody>
      </p:sp>
      <p:sp>
        <p:nvSpPr>
          <p:cNvPr id="15" name="Text 10"/>
          <p:cNvSpPr/>
          <p:nvPr/>
        </p:nvSpPr>
        <p:spPr>
          <a:xfrm>
            <a:off x="642938" y="3067459"/>
            <a:ext cx="7858125" cy="171450"/>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8F00"/>
                </a:solidFill>
                <a:latin typeface="Space Grotesk" pitchFamily="34" charset="0"/>
                <a:ea typeface="Space Grotesk" pitchFamily="34" charset="-122"/>
                <a:cs typeface="Space Grotesk" pitchFamily="34" charset="-120"/>
              </a:rPr>
              <a:t>Local集約の数式イメージ</a:t>
            </a:r>
            <a:endParaRPr lang="en-US" sz="942" dirty="0"/>
          </a:p>
        </p:txBody>
      </p:sp>
      <p:sp>
        <p:nvSpPr>
          <p:cNvPr id="16" name="Text 11"/>
          <p:cNvSpPr/>
          <p:nvPr/>
        </p:nvSpPr>
        <p:spPr>
          <a:xfrm>
            <a:off x="2856607" y="3346066"/>
            <a:ext cx="157163" cy="328613"/>
          </a:xfrm>
          <a:prstGeom prst="rect">
            <a:avLst/>
          </a:prstGeom>
          <a:noFill/>
          <a:ln/>
        </p:spPr>
        <p:txBody>
          <a:bodyPr wrap="none" lIns="0" tIns="0" rIns="0" bIns="0" rtlCol="0" anchor="t">
            <a:spAutoFit/>
          </a:bodyPr>
          <a:lstStyle/>
          <a:p>
            <a:pPr marL="0" indent="0" algn="ctr">
              <a:lnSpc>
                <a:spcPts val="2400"/>
              </a:lnSpc>
              <a:buNone/>
            </a:pPr>
            <a:r>
              <a:rPr lang="en-US" sz="1924" dirty="0">
                <a:solidFill>
                  <a:srgbClr val="E0F2F1"/>
                </a:solidFill>
                <a:latin typeface="Space Grotesk" pitchFamily="34" charset="0"/>
                <a:ea typeface="Space Grotesk" pitchFamily="34" charset="-122"/>
                <a:cs typeface="Space Grotesk" pitchFamily="34" charset="-120"/>
              </a:rPr>
              <a:t>h</a:t>
            </a:r>
            <a:endParaRPr lang="en-US" sz="1924" dirty="0"/>
          </a:p>
        </p:txBody>
      </p:sp>
      <p:sp>
        <p:nvSpPr>
          <p:cNvPr id="17" name="Text 12"/>
          <p:cNvSpPr/>
          <p:nvPr/>
        </p:nvSpPr>
        <p:spPr>
          <a:xfrm>
            <a:off x="3013770" y="3442143"/>
            <a:ext cx="80367" cy="273248"/>
          </a:xfrm>
          <a:prstGeom prst="rect">
            <a:avLst/>
          </a:prstGeom>
          <a:noFill/>
          <a:ln/>
        </p:spPr>
        <p:txBody>
          <a:bodyPr wrap="none" lIns="0" tIns="0" rIns="0" bIns="0" rtlCol="0" anchor="t">
            <a:spAutoFit/>
          </a:bodyPr>
          <a:lstStyle/>
          <a:p>
            <a:pPr marL="0" indent="0" algn="ctr">
              <a:lnSpc>
                <a:spcPts val="2000"/>
              </a:lnSpc>
              <a:buNone/>
            </a:pPr>
            <a:r>
              <a:rPr lang="en-US" sz="1595" baseline="-40000" dirty="0">
                <a:solidFill>
                  <a:srgbClr val="E0F2F1"/>
                </a:solidFill>
                <a:latin typeface="Space Grotesk" pitchFamily="34" charset="0"/>
                <a:ea typeface="Space Grotesk" pitchFamily="34" charset="-122"/>
                <a:cs typeface="Space Grotesk" pitchFamily="34" charset="-120"/>
              </a:rPr>
              <a:t>r</a:t>
            </a:r>
            <a:endParaRPr lang="en-US" sz="1595" dirty="0"/>
          </a:p>
        </p:txBody>
      </p:sp>
      <p:sp>
        <p:nvSpPr>
          <p:cNvPr id="18" name="Text 13"/>
          <p:cNvSpPr/>
          <p:nvPr/>
        </p:nvSpPr>
        <p:spPr>
          <a:xfrm>
            <a:off x="3094137" y="3346066"/>
            <a:ext cx="1516261" cy="328613"/>
          </a:xfrm>
          <a:prstGeom prst="rect">
            <a:avLst/>
          </a:prstGeom>
          <a:noFill/>
          <a:ln/>
        </p:spPr>
        <p:txBody>
          <a:bodyPr wrap="none" lIns="0" tIns="0" rIns="0" bIns="0" rtlCol="0" anchor="t">
            <a:spAutoFit/>
          </a:bodyPr>
          <a:lstStyle/>
          <a:p>
            <a:pPr marL="0" indent="0" algn="ctr">
              <a:lnSpc>
                <a:spcPts val="2400"/>
              </a:lnSpc>
              <a:buNone/>
            </a:pPr>
            <a:r>
              <a:rPr lang="en-US" sz="1924" dirty="0">
                <a:solidFill>
                  <a:srgbClr val="E0F2F1"/>
                </a:solidFill>
                <a:latin typeface="Space Grotesk" pitchFamily="34" charset="0"/>
                <a:ea typeface="Space Grotesk" pitchFamily="34" charset="-122"/>
                <a:cs typeface="Space Grotesk" pitchFamily="34" charset="-120"/>
              </a:rPr>
              <a:t>= Average(z</a:t>
            </a:r>
            <a:endParaRPr lang="en-US" sz="1924" dirty="0"/>
          </a:p>
        </p:txBody>
      </p:sp>
      <p:sp>
        <p:nvSpPr>
          <p:cNvPr id="19" name="Text 14"/>
          <p:cNvSpPr/>
          <p:nvPr/>
        </p:nvSpPr>
        <p:spPr>
          <a:xfrm>
            <a:off x="4610398" y="3442143"/>
            <a:ext cx="200025" cy="273248"/>
          </a:xfrm>
          <a:prstGeom prst="rect">
            <a:avLst/>
          </a:prstGeom>
          <a:noFill/>
          <a:ln/>
        </p:spPr>
        <p:txBody>
          <a:bodyPr wrap="none" lIns="0" tIns="0" rIns="0" bIns="0" rtlCol="0" anchor="t">
            <a:spAutoFit/>
          </a:bodyPr>
          <a:lstStyle/>
          <a:p>
            <a:pPr marL="0" indent="0" algn="ctr">
              <a:lnSpc>
                <a:spcPts val="2000"/>
              </a:lnSpc>
              <a:buNone/>
            </a:pPr>
            <a:r>
              <a:rPr lang="en-US" sz="1595" baseline="-40000" dirty="0">
                <a:solidFill>
                  <a:srgbClr val="E0F2F1"/>
                </a:solidFill>
                <a:latin typeface="Space Grotesk" pitchFamily="34" charset="0"/>
                <a:ea typeface="Space Grotesk" pitchFamily="34" charset="-122"/>
                <a:cs typeface="Space Grotesk" pitchFamily="34" charset="-120"/>
              </a:rPr>
              <a:t>r,1</a:t>
            </a:r>
            <a:endParaRPr lang="en-US" sz="1595" dirty="0"/>
          </a:p>
        </p:txBody>
      </p:sp>
      <p:sp>
        <p:nvSpPr>
          <p:cNvPr id="20" name="Text 15"/>
          <p:cNvSpPr/>
          <p:nvPr/>
        </p:nvSpPr>
        <p:spPr>
          <a:xfrm>
            <a:off x="4810423" y="3346066"/>
            <a:ext cx="255389" cy="328613"/>
          </a:xfrm>
          <a:prstGeom prst="rect">
            <a:avLst/>
          </a:prstGeom>
          <a:noFill/>
          <a:ln/>
        </p:spPr>
        <p:txBody>
          <a:bodyPr wrap="none" lIns="0" tIns="0" rIns="0" bIns="0" rtlCol="0" anchor="t">
            <a:spAutoFit/>
          </a:bodyPr>
          <a:lstStyle/>
          <a:p>
            <a:pPr marL="0" indent="0" algn="ctr">
              <a:lnSpc>
                <a:spcPts val="2400"/>
              </a:lnSpc>
              <a:buNone/>
            </a:pPr>
            <a:r>
              <a:rPr lang="en-US" sz="1924" dirty="0">
                <a:solidFill>
                  <a:srgbClr val="E0F2F1"/>
                </a:solidFill>
                <a:latin typeface="Space Grotesk" pitchFamily="34" charset="0"/>
                <a:ea typeface="Space Grotesk" pitchFamily="34" charset="-122"/>
                <a:cs typeface="Space Grotesk" pitchFamily="34" charset="-120"/>
              </a:rPr>
              <a:t>, z</a:t>
            </a:r>
            <a:endParaRPr lang="en-US" sz="1924" dirty="0"/>
          </a:p>
        </p:txBody>
      </p:sp>
      <p:sp>
        <p:nvSpPr>
          <p:cNvPr id="21" name="Text 16"/>
          <p:cNvSpPr/>
          <p:nvPr/>
        </p:nvSpPr>
        <p:spPr>
          <a:xfrm>
            <a:off x="5065812" y="3442143"/>
            <a:ext cx="248245" cy="273248"/>
          </a:xfrm>
          <a:prstGeom prst="rect">
            <a:avLst/>
          </a:prstGeom>
          <a:noFill/>
          <a:ln/>
        </p:spPr>
        <p:txBody>
          <a:bodyPr wrap="none" lIns="0" tIns="0" rIns="0" bIns="0" rtlCol="0" anchor="t">
            <a:spAutoFit/>
          </a:bodyPr>
          <a:lstStyle/>
          <a:p>
            <a:pPr marL="0" indent="0" algn="ctr">
              <a:lnSpc>
                <a:spcPts val="2000"/>
              </a:lnSpc>
              <a:buNone/>
            </a:pPr>
            <a:r>
              <a:rPr lang="en-US" sz="1595" baseline="-40000" dirty="0">
                <a:solidFill>
                  <a:srgbClr val="E0F2F1"/>
                </a:solidFill>
                <a:latin typeface="Space Grotesk" pitchFamily="34" charset="0"/>
                <a:ea typeface="Space Grotesk" pitchFamily="34" charset="-122"/>
                <a:cs typeface="Space Grotesk" pitchFamily="34" charset="-120"/>
              </a:rPr>
              <a:t>r,2</a:t>
            </a:r>
            <a:endParaRPr lang="en-US" sz="1595" dirty="0"/>
          </a:p>
        </p:txBody>
      </p:sp>
      <p:sp>
        <p:nvSpPr>
          <p:cNvPr id="22" name="Text 17"/>
          <p:cNvSpPr/>
          <p:nvPr/>
        </p:nvSpPr>
        <p:spPr>
          <a:xfrm>
            <a:off x="5314057" y="3346066"/>
            <a:ext cx="560784" cy="328613"/>
          </a:xfrm>
          <a:prstGeom prst="rect">
            <a:avLst/>
          </a:prstGeom>
          <a:noFill/>
          <a:ln/>
        </p:spPr>
        <p:txBody>
          <a:bodyPr wrap="none" lIns="0" tIns="0" rIns="0" bIns="0" rtlCol="0" anchor="t">
            <a:spAutoFit/>
          </a:bodyPr>
          <a:lstStyle/>
          <a:p>
            <a:pPr marL="0" indent="0" algn="ctr">
              <a:lnSpc>
                <a:spcPts val="2400"/>
              </a:lnSpc>
              <a:buNone/>
            </a:pPr>
            <a:r>
              <a:rPr lang="en-US" sz="1924" dirty="0">
                <a:solidFill>
                  <a:srgbClr val="E0F2F1"/>
                </a:solidFill>
                <a:latin typeface="Space Grotesk" pitchFamily="34" charset="0"/>
                <a:ea typeface="Space Grotesk" pitchFamily="34" charset="-122"/>
                <a:cs typeface="Space Grotesk" pitchFamily="34" charset="-120"/>
              </a:rPr>
              <a:t>, ..., z</a:t>
            </a:r>
            <a:endParaRPr lang="en-US" sz="1924" dirty="0"/>
          </a:p>
        </p:txBody>
      </p:sp>
      <p:sp>
        <p:nvSpPr>
          <p:cNvPr id="23" name="Text 18"/>
          <p:cNvSpPr/>
          <p:nvPr/>
        </p:nvSpPr>
        <p:spPr>
          <a:xfrm>
            <a:off x="5874841" y="3442143"/>
            <a:ext cx="248245" cy="273248"/>
          </a:xfrm>
          <a:prstGeom prst="rect">
            <a:avLst/>
          </a:prstGeom>
          <a:noFill/>
          <a:ln/>
        </p:spPr>
        <p:txBody>
          <a:bodyPr wrap="none" lIns="0" tIns="0" rIns="0" bIns="0" rtlCol="0" anchor="t">
            <a:spAutoFit/>
          </a:bodyPr>
          <a:lstStyle/>
          <a:p>
            <a:pPr marL="0" indent="0" algn="ctr">
              <a:lnSpc>
                <a:spcPts val="2000"/>
              </a:lnSpc>
              <a:buNone/>
            </a:pPr>
            <a:r>
              <a:rPr lang="en-US" sz="1595" dirty="0">
                <a:solidFill>
                  <a:srgbClr val="E0F2F1"/>
                </a:solidFill>
                <a:latin typeface="Space Grotesk" pitchFamily="34" charset="0"/>
                <a:ea typeface="Space Grotesk" pitchFamily="34" charset="-122"/>
                <a:cs typeface="Space Grotesk" pitchFamily="34" charset="-120"/>
              </a:rPr>
              <a:t>r,P</a:t>
            </a:r>
            <a:endParaRPr lang="en-US" sz="1595" dirty="0"/>
          </a:p>
        </p:txBody>
      </p:sp>
      <p:sp>
        <p:nvSpPr>
          <p:cNvPr id="24" name="Text 19"/>
          <p:cNvSpPr/>
          <p:nvPr/>
        </p:nvSpPr>
        <p:spPr>
          <a:xfrm>
            <a:off x="6123087" y="3522511"/>
            <a:ext cx="67866" cy="226814"/>
          </a:xfrm>
          <a:prstGeom prst="rect">
            <a:avLst/>
          </a:prstGeom>
          <a:noFill/>
          <a:ln/>
        </p:spPr>
        <p:txBody>
          <a:bodyPr wrap="none" lIns="0" tIns="0" rIns="0" bIns="0" rtlCol="0" anchor="t">
            <a:spAutoFit/>
          </a:bodyPr>
          <a:lstStyle/>
          <a:p>
            <a:pPr marL="0" indent="0" algn="ctr">
              <a:lnSpc>
                <a:spcPts val="1700"/>
              </a:lnSpc>
              <a:buNone/>
            </a:pPr>
            <a:r>
              <a:rPr lang="en-US" sz="1323" baseline="-40000" dirty="0">
                <a:solidFill>
                  <a:srgbClr val="E0F2F1"/>
                </a:solidFill>
                <a:latin typeface="Space Grotesk" pitchFamily="34" charset="0"/>
                <a:ea typeface="Space Grotesk" pitchFamily="34" charset="-122"/>
                <a:cs typeface="Space Grotesk" pitchFamily="34" charset="-120"/>
              </a:rPr>
              <a:t>r</a:t>
            </a:r>
            <a:endParaRPr lang="en-US" sz="1323" dirty="0"/>
          </a:p>
        </p:txBody>
      </p:sp>
      <p:sp>
        <p:nvSpPr>
          <p:cNvPr id="25" name="Text 20"/>
          <p:cNvSpPr/>
          <p:nvPr/>
        </p:nvSpPr>
        <p:spPr>
          <a:xfrm>
            <a:off x="6190952" y="3346066"/>
            <a:ext cx="96441" cy="328613"/>
          </a:xfrm>
          <a:prstGeom prst="rect">
            <a:avLst/>
          </a:prstGeom>
          <a:noFill/>
          <a:ln/>
        </p:spPr>
        <p:txBody>
          <a:bodyPr wrap="none" lIns="0" tIns="0" rIns="0" bIns="0" rtlCol="0" anchor="t">
            <a:spAutoFit/>
          </a:bodyPr>
          <a:lstStyle/>
          <a:p>
            <a:pPr marL="0" indent="0" algn="ctr">
              <a:lnSpc>
                <a:spcPts val="2400"/>
              </a:lnSpc>
              <a:buNone/>
            </a:pPr>
            <a:r>
              <a:rPr lang="en-US" sz="1924" dirty="0">
                <a:solidFill>
                  <a:srgbClr val="E0F2F1"/>
                </a:solidFill>
                <a:latin typeface="Space Grotesk" pitchFamily="34" charset="0"/>
                <a:ea typeface="Space Grotesk" pitchFamily="34" charset="-122"/>
                <a:cs typeface="Space Grotesk" pitchFamily="34" charset="-120"/>
              </a:rPr>
              <a:t>)</a:t>
            </a:r>
            <a:endParaRPr lang="en-US" sz="1924" dirty="0"/>
          </a:p>
        </p:txBody>
      </p:sp>
      <p:sp>
        <p:nvSpPr>
          <p:cNvPr id="26" name="Shape 21"/>
          <p:cNvSpPr/>
          <p:nvPr/>
        </p:nvSpPr>
        <p:spPr>
          <a:xfrm>
            <a:off x="428625" y="4049362"/>
            <a:ext cx="2666991" cy="751880"/>
          </a:xfrm>
          <a:prstGeom prst="rect">
            <a:avLst/>
          </a:prstGeom>
          <a:solidFill>
            <a:srgbClr val="063131"/>
          </a:solidFill>
          <a:ln/>
        </p:spPr>
        <p:txBody>
          <a:bodyPr/>
          <a:lstStyle/>
          <a:p>
            <a:endParaRPr lang="ja-JP" altLang="en-US"/>
          </a:p>
        </p:txBody>
      </p:sp>
      <p:sp>
        <p:nvSpPr>
          <p:cNvPr id="27" name="Shape 22"/>
          <p:cNvSpPr/>
          <p:nvPr/>
        </p:nvSpPr>
        <p:spPr>
          <a:xfrm>
            <a:off x="428625" y="4049362"/>
            <a:ext cx="21431" cy="751880"/>
          </a:xfrm>
          <a:prstGeom prst="rect">
            <a:avLst/>
          </a:prstGeom>
          <a:solidFill>
            <a:srgbClr val="FF8F00"/>
          </a:solidFill>
          <a:ln/>
        </p:spPr>
        <p:txBody>
          <a:bodyPr/>
          <a:lstStyle/>
          <a:p>
            <a:endParaRPr lang="ja-JP" altLang="en-US"/>
          </a:p>
        </p:txBody>
      </p:sp>
      <p:sp>
        <p:nvSpPr>
          <p:cNvPr id="28" name="Text 23"/>
          <p:cNvSpPr/>
          <p:nvPr/>
        </p:nvSpPr>
        <p:spPr>
          <a:xfrm>
            <a:off x="428625" y="4049362"/>
            <a:ext cx="2666991" cy="751880"/>
          </a:xfrm>
          <a:prstGeom prst="rect">
            <a:avLst/>
          </a:prstGeom>
          <a:noFill/>
          <a:ln/>
        </p:spPr>
        <p:txBody>
          <a:bodyPr wrap="square" lIns="170053" tIns="170053" rIns="170053" bIns="170053" rtlCol="0" anchor="t">
            <a:spAutoFit/>
          </a:bodyPr>
          <a:lstStyle/>
          <a:p>
            <a:pPr marL="0" indent="0" algn="l">
              <a:lnSpc>
                <a:spcPts val="1100"/>
              </a:lnSpc>
              <a:buNone/>
            </a:pPr>
            <a:r>
              <a:rPr lang="en-US" sz="784" b="1" dirty="0">
                <a:solidFill>
                  <a:srgbClr val="FFD700"/>
                </a:solidFill>
                <a:latin typeface="Inter" pitchFamily="34" charset="0"/>
                <a:ea typeface="Inter" pitchFamily="34" charset="-122"/>
                <a:cs typeface="Inter" pitchFamily="34" charset="-120"/>
              </a:rPr>
              <a:t>ノイズ耐性:</a:t>
            </a:r>
            <a:r>
              <a:rPr lang="en-US" sz="834" dirty="0">
                <a:solidFill>
                  <a:srgbClr val="E0F2F1"/>
                </a:solidFill>
                <a:latin typeface="Inter" pitchFamily="34" charset="0"/>
                <a:ea typeface="Inter" pitchFamily="34" charset="-122"/>
                <a:cs typeface="Inter" pitchFamily="34" charset="-120"/>
              </a:rPr>
              <a:t> 個々の電極の微細なノイズを平均化で除去し、領域レベルの安定した信号を得られます。</a:t>
            </a:r>
            <a:endParaRPr lang="en-US" sz="834" dirty="0"/>
          </a:p>
        </p:txBody>
      </p:sp>
      <p:sp>
        <p:nvSpPr>
          <p:cNvPr id="29" name="Shape 24"/>
          <p:cNvSpPr/>
          <p:nvPr/>
        </p:nvSpPr>
        <p:spPr>
          <a:xfrm>
            <a:off x="3224203" y="4049362"/>
            <a:ext cx="2674134" cy="751880"/>
          </a:xfrm>
          <a:prstGeom prst="rect">
            <a:avLst/>
          </a:prstGeom>
          <a:solidFill>
            <a:srgbClr val="063131"/>
          </a:solidFill>
          <a:ln/>
        </p:spPr>
        <p:txBody>
          <a:bodyPr/>
          <a:lstStyle/>
          <a:p>
            <a:endParaRPr lang="ja-JP" altLang="en-US"/>
          </a:p>
        </p:txBody>
      </p:sp>
      <p:sp>
        <p:nvSpPr>
          <p:cNvPr id="30" name="Shape 25"/>
          <p:cNvSpPr/>
          <p:nvPr/>
        </p:nvSpPr>
        <p:spPr>
          <a:xfrm>
            <a:off x="3224203" y="4049362"/>
            <a:ext cx="21431" cy="751880"/>
          </a:xfrm>
          <a:prstGeom prst="rect">
            <a:avLst/>
          </a:prstGeom>
          <a:solidFill>
            <a:srgbClr val="FF8F00"/>
          </a:solidFill>
          <a:ln/>
        </p:spPr>
        <p:txBody>
          <a:bodyPr/>
          <a:lstStyle/>
          <a:p>
            <a:endParaRPr lang="ja-JP" altLang="en-US"/>
          </a:p>
        </p:txBody>
      </p:sp>
      <p:sp>
        <p:nvSpPr>
          <p:cNvPr id="31" name="Text 26"/>
          <p:cNvSpPr/>
          <p:nvPr/>
        </p:nvSpPr>
        <p:spPr>
          <a:xfrm>
            <a:off x="3224203" y="4049362"/>
            <a:ext cx="2674134" cy="751880"/>
          </a:xfrm>
          <a:prstGeom prst="rect">
            <a:avLst/>
          </a:prstGeom>
          <a:noFill/>
          <a:ln/>
        </p:spPr>
        <p:txBody>
          <a:bodyPr wrap="square" lIns="170053" tIns="170053" rIns="170053" bIns="170053" rtlCol="0" anchor="t">
            <a:spAutoFit/>
          </a:bodyPr>
          <a:lstStyle/>
          <a:p>
            <a:pPr marL="0" indent="0" algn="l">
              <a:lnSpc>
                <a:spcPts val="1100"/>
              </a:lnSpc>
              <a:buNone/>
            </a:pPr>
            <a:r>
              <a:rPr lang="en-US" sz="784" b="1" dirty="0">
                <a:solidFill>
                  <a:srgbClr val="FFD700"/>
                </a:solidFill>
                <a:latin typeface="Inter" pitchFamily="34" charset="0"/>
                <a:ea typeface="Inter" pitchFamily="34" charset="-122"/>
                <a:cs typeface="Inter" pitchFamily="34" charset="-120"/>
              </a:rPr>
              <a:t>計算効率:</a:t>
            </a:r>
            <a:r>
              <a:rPr lang="en-US" sz="834" dirty="0">
                <a:solidFill>
                  <a:srgbClr val="E0F2F1"/>
                </a:solidFill>
                <a:latin typeface="Inter" pitchFamily="34" charset="0"/>
                <a:ea typeface="Inter" pitchFamily="34" charset="-122"/>
                <a:cs typeface="Inter" pitchFamily="34" charset="-120"/>
              </a:rPr>
              <a:t> 全電極を一度に扱うのではなく、領域単位に圧縮することで、後続のグラフ計算を軽量化します。</a:t>
            </a:r>
            <a:endParaRPr lang="en-US" sz="834" dirty="0"/>
          </a:p>
        </p:txBody>
      </p:sp>
      <p:sp>
        <p:nvSpPr>
          <p:cNvPr id="32" name="Shape 27"/>
          <p:cNvSpPr/>
          <p:nvPr/>
        </p:nvSpPr>
        <p:spPr>
          <a:xfrm>
            <a:off x="6034069" y="4049362"/>
            <a:ext cx="2681278" cy="751880"/>
          </a:xfrm>
          <a:prstGeom prst="rect">
            <a:avLst/>
          </a:prstGeom>
          <a:solidFill>
            <a:srgbClr val="063131"/>
          </a:solidFill>
          <a:ln/>
        </p:spPr>
        <p:txBody>
          <a:bodyPr/>
          <a:lstStyle/>
          <a:p>
            <a:endParaRPr lang="ja-JP" altLang="en-US"/>
          </a:p>
        </p:txBody>
      </p:sp>
      <p:sp>
        <p:nvSpPr>
          <p:cNvPr id="33" name="Shape 28"/>
          <p:cNvSpPr/>
          <p:nvPr/>
        </p:nvSpPr>
        <p:spPr>
          <a:xfrm>
            <a:off x="6034069" y="4049362"/>
            <a:ext cx="21431" cy="751880"/>
          </a:xfrm>
          <a:prstGeom prst="rect">
            <a:avLst/>
          </a:prstGeom>
          <a:solidFill>
            <a:srgbClr val="FF8F00"/>
          </a:solidFill>
          <a:ln/>
        </p:spPr>
        <p:txBody>
          <a:bodyPr/>
          <a:lstStyle/>
          <a:p>
            <a:endParaRPr lang="ja-JP" altLang="en-US"/>
          </a:p>
        </p:txBody>
      </p:sp>
      <p:sp>
        <p:nvSpPr>
          <p:cNvPr id="34" name="Text 29"/>
          <p:cNvSpPr/>
          <p:nvPr/>
        </p:nvSpPr>
        <p:spPr>
          <a:xfrm>
            <a:off x="6034069" y="4049362"/>
            <a:ext cx="2681278" cy="751880"/>
          </a:xfrm>
          <a:prstGeom prst="rect">
            <a:avLst/>
          </a:prstGeom>
          <a:noFill/>
          <a:ln/>
        </p:spPr>
        <p:txBody>
          <a:bodyPr wrap="square" lIns="170053" tIns="170053" rIns="170053" bIns="170053" rtlCol="0" anchor="t">
            <a:spAutoFit/>
          </a:bodyPr>
          <a:lstStyle/>
          <a:p>
            <a:pPr marL="0" indent="0" algn="l">
              <a:lnSpc>
                <a:spcPts val="1100"/>
              </a:lnSpc>
              <a:buNone/>
            </a:pPr>
            <a:r>
              <a:rPr lang="en-US" sz="784" b="1" dirty="0">
                <a:solidFill>
                  <a:srgbClr val="FFD700"/>
                </a:solidFill>
                <a:latin typeface="Inter" pitchFamily="34" charset="0"/>
                <a:ea typeface="Inter" pitchFamily="34" charset="-122"/>
                <a:cs typeface="Inter" pitchFamily="34" charset="-120"/>
              </a:rPr>
              <a:t>解釈性:</a:t>
            </a:r>
            <a:r>
              <a:rPr lang="en-US" sz="834" dirty="0">
                <a:solidFill>
                  <a:srgbClr val="E0F2F1"/>
                </a:solidFill>
                <a:latin typeface="Inter" pitchFamily="34" charset="0"/>
                <a:ea typeface="Inter" pitchFamily="34" charset="-122"/>
                <a:cs typeface="Inter" pitchFamily="34" charset="-120"/>
              </a:rPr>
              <a:t> 「どの脳領域が活性化しているか」という神経科学的な解釈が容易になります。</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810816"/>
          </a:xfrm>
          <a:prstGeom prst="rect">
            <a:avLst/>
          </a:prstGeom>
          <a:noFill/>
          <a:ln/>
        </p:spPr>
        <p:txBody>
          <a:bodyPr wrap="square" lIns="0" tIns="0" rIns="0" bIns="0" rtlCol="0" anchor="t">
            <a:spAutoFit/>
          </a:bodyPr>
          <a:lstStyle/>
          <a:p>
            <a:pPr marL="0" indent="0" algn="l">
              <a:lnSpc>
                <a:spcPts val="2800"/>
              </a:lnSpc>
              <a:buNone/>
            </a:pPr>
            <a:r>
              <a:rPr lang="en-US" sz="2121" b="1" kern="0" spc="2" dirty="0">
                <a:solidFill>
                  <a:srgbClr val="FFD700"/>
                </a:solidFill>
                <a:latin typeface="Space Grotesk" pitchFamily="34" charset="0"/>
                <a:ea typeface="Space Grotesk" pitchFamily="34" charset="-122"/>
                <a:cs typeface="Space Grotesk" pitchFamily="34" charset="-120"/>
              </a:rPr>
              <a:t>GRAPH LEARNING BLOCK (2) - GLOBAL-GRAPH (領域間の連携)</a:t>
            </a:r>
            <a:endParaRPr lang="en-US" sz="2121" dirty="0"/>
          </a:p>
        </p:txBody>
      </p:sp>
      <p:sp>
        <p:nvSpPr>
          <p:cNvPr id="4" name="Text 1"/>
          <p:cNvSpPr/>
          <p:nvPr/>
        </p:nvSpPr>
        <p:spPr>
          <a:xfrm>
            <a:off x="428625" y="1382316"/>
            <a:ext cx="8286750" cy="192881"/>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B2DFDB"/>
                </a:solidFill>
                <a:latin typeface="Inter" pitchFamily="34" charset="0"/>
                <a:ea typeface="Inter" pitchFamily="34" charset="-122"/>
                <a:cs typeface="Inter" pitchFamily="34" charset="-120"/>
              </a:rPr>
              <a:t>集約された各領域（Local Graph）同士が、どのように連携しているかを</a:t>
            </a:r>
            <a:r>
              <a:rPr lang="en-US" sz="987" b="1" dirty="0">
                <a:solidFill>
                  <a:srgbClr val="FFD700"/>
                </a:solidFill>
                <a:latin typeface="Inter" pitchFamily="34" charset="0"/>
                <a:ea typeface="Inter" pitchFamily="34" charset="-122"/>
                <a:cs typeface="Inter" pitchFamily="34" charset="-120"/>
              </a:rPr>
              <a:t>動的</a:t>
            </a:r>
            <a:r>
              <a:rPr lang="en-US" sz="1050" dirty="0">
                <a:solidFill>
                  <a:srgbClr val="B2DFDB"/>
                </a:solidFill>
                <a:latin typeface="Inter" pitchFamily="34" charset="0"/>
                <a:ea typeface="Inter" pitchFamily="34" charset="-122"/>
                <a:cs typeface="Inter" pitchFamily="34" charset="-120"/>
              </a:rPr>
              <a:t>にモデル化します。</a:t>
            </a:r>
            <a:endParaRPr lang="en-US" sz="1050" dirty="0"/>
          </a:p>
        </p:txBody>
      </p:sp>
      <p:sp>
        <p:nvSpPr>
          <p:cNvPr id="5" name="Shape 2"/>
          <p:cNvSpPr/>
          <p:nvPr/>
        </p:nvSpPr>
        <p:spPr>
          <a:xfrm>
            <a:off x="428625" y="1689497"/>
            <a:ext cx="2686050" cy="1571625"/>
          </a:xfrm>
          <a:prstGeom prst="rect">
            <a:avLst/>
          </a:prstGeom>
          <a:solidFill>
            <a:srgbClr val="004D40"/>
          </a:solidFill>
          <a:ln/>
        </p:spPr>
        <p:txBody>
          <a:bodyPr/>
          <a:lstStyle/>
          <a:p>
            <a:endParaRPr lang="ja-JP" altLang="en-US"/>
          </a:p>
        </p:txBody>
      </p:sp>
      <p:sp>
        <p:nvSpPr>
          <p:cNvPr id="6" name="Shape 3"/>
          <p:cNvSpPr/>
          <p:nvPr/>
        </p:nvSpPr>
        <p:spPr>
          <a:xfrm>
            <a:off x="428625" y="1689497"/>
            <a:ext cx="2686050" cy="28575"/>
          </a:xfrm>
          <a:prstGeom prst="rect">
            <a:avLst/>
          </a:prstGeom>
          <a:solidFill>
            <a:srgbClr val="FFD700"/>
          </a:solidFill>
          <a:ln/>
        </p:spPr>
        <p:txBody>
          <a:bodyPr/>
          <a:lstStyle/>
          <a:p>
            <a:endParaRPr lang="ja-JP" altLang="en-US"/>
          </a:p>
        </p:txBody>
      </p:sp>
      <p:sp>
        <p:nvSpPr>
          <p:cNvPr id="7" name="Text 4"/>
          <p:cNvSpPr/>
          <p:nvPr/>
        </p:nvSpPr>
        <p:spPr>
          <a:xfrm>
            <a:off x="542925" y="1803797"/>
            <a:ext cx="2457450" cy="126802"/>
          </a:xfrm>
          <a:prstGeom prst="rect">
            <a:avLst/>
          </a:prstGeom>
          <a:noFill/>
          <a:ln/>
        </p:spPr>
        <p:txBody>
          <a:bodyPr wrap="none" lIns="0" tIns="0" rIns="0" bIns="0" rtlCol="0" anchor="t">
            <a:spAutoFit/>
          </a:bodyPr>
          <a:lstStyle/>
          <a:p>
            <a:pPr marL="0" indent="0" algn="l">
              <a:lnSpc>
                <a:spcPts val="900"/>
              </a:lnSpc>
              <a:buNone/>
            </a:pPr>
            <a:r>
              <a:rPr lang="en-US" sz="727" dirty="0">
                <a:solidFill>
                  <a:srgbClr val="FFD700"/>
                </a:solidFill>
                <a:latin typeface="Space Grotesk" pitchFamily="34" charset="0"/>
                <a:ea typeface="Space Grotesk" pitchFamily="34" charset="-122"/>
                <a:cs typeface="Space Grotesk" pitchFamily="34" charset="-120"/>
              </a:rPr>
              <a:t>STEP 01</a:t>
            </a:r>
            <a:endParaRPr lang="en-US" sz="727" dirty="0"/>
          </a:p>
        </p:txBody>
      </p:sp>
      <p:pic>
        <p:nvPicPr>
          <p:cNvPr id="8" name="Image 1" descr="preencoded.png"/>
          <p:cNvPicPr>
            <a:picLocks noChangeAspect="1"/>
          </p:cNvPicPr>
          <p:nvPr/>
        </p:nvPicPr>
        <p:blipFill>
          <a:blip r:embed="rId4"/>
          <a:stretch>
            <a:fillRect/>
          </a:stretch>
        </p:blipFill>
        <p:spPr>
          <a:xfrm>
            <a:off x="542925" y="2029718"/>
            <a:ext cx="176808" cy="157163"/>
          </a:xfrm>
          <a:prstGeom prst="rect">
            <a:avLst/>
          </a:prstGeom>
        </p:spPr>
      </p:pic>
      <p:sp>
        <p:nvSpPr>
          <p:cNvPr id="9" name="Text 5"/>
          <p:cNvSpPr/>
          <p:nvPr/>
        </p:nvSpPr>
        <p:spPr>
          <a:xfrm>
            <a:off x="791170" y="2002036"/>
            <a:ext cx="785813" cy="21252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0F0F0"/>
                </a:solidFill>
                <a:latin typeface="Inter" pitchFamily="34" charset="0"/>
                <a:ea typeface="Inter" pitchFamily="34" charset="-122"/>
                <a:cs typeface="Inter" pitchFamily="34" charset="-120"/>
              </a:rPr>
              <a:t>類似度計算</a:t>
            </a:r>
            <a:endParaRPr lang="en-US" sz="1090" dirty="0"/>
          </a:p>
        </p:txBody>
      </p:sp>
      <p:sp>
        <p:nvSpPr>
          <p:cNvPr id="10" name="Text 6"/>
          <p:cNvSpPr/>
          <p:nvPr/>
        </p:nvSpPr>
        <p:spPr>
          <a:xfrm>
            <a:off x="542925" y="2337792"/>
            <a:ext cx="2318147" cy="13751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B2DFDB"/>
                </a:solidFill>
                <a:latin typeface="Inter" pitchFamily="34" charset="0"/>
                <a:ea typeface="Inter" pitchFamily="34" charset="-122"/>
                <a:cs typeface="Inter" pitchFamily="34" charset="-120"/>
              </a:rPr>
              <a:t>入力データごとに、領域間の類似度（ドット</a:t>
            </a:r>
            <a:endParaRPr lang="en-US" sz="834" dirty="0"/>
          </a:p>
        </p:txBody>
      </p:sp>
      <p:sp>
        <p:nvSpPr>
          <p:cNvPr id="11" name="Text 7"/>
          <p:cNvSpPr/>
          <p:nvPr/>
        </p:nvSpPr>
        <p:spPr>
          <a:xfrm>
            <a:off x="542925" y="2509242"/>
            <a:ext cx="1878806" cy="13751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B2DFDB"/>
                </a:solidFill>
                <a:latin typeface="Inter" pitchFamily="34" charset="0"/>
                <a:ea typeface="Inter" pitchFamily="34" charset="-122"/>
                <a:cs typeface="Inter" pitchFamily="34" charset="-120"/>
              </a:rPr>
              <a:t>積）を計算し、基礎となる隣接行列</a:t>
            </a:r>
            <a:endParaRPr lang="en-US" sz="834" dirty="0"/>
          </a:p>
        </p:txBody>
      </p:sp>
      <p:sp>
        <p:nvSpPr>
          <p:cNvPr id="12" name="Text 8"/>
          <p:cNvSpPr/>
          <p:nvPr/>
        </p:nvSpPr>
        <p:spPr>
          <a:xfrm>
            <a:off x="2421731" y="2509242"/>
            <a:ext cx="83939" cy="13751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700"/>
                </a:solidFill>
                <a:latin typeface="Inter" pitchFamily="34" charset="0"/>
                <a:ea typeface="Inter" pitchFamily="34" charset="-122"/>
                <a:cs typeface="Inter" pitchFamily="34" charset="-120"/>
              </a:rPr>
              <a:t>A</a:t>
            </a:r>
            <a:endParaRPr lang="en-US" sz="784" dirty="0"/>
          </a:p>
        </p:txBody>
      </p:sp>
      <p:sp>
        <p:nvSpPr>
          <p:cNvPr id="13" name="Text 9"/>
          <p:cNvSpPr/>
          <p:nvPr/>
        </p:nvSpPr>
        <p:spPr>
          <a:xfrm>
            <a:off x="542925" y="2551742"/>
            <a:ext cx="2289572" cy="305005"/>
          </a:xfrm>
          <a:prstGeom prst="rect">
            <a:avLst/>
          </a:prstGeom>
          <a:noFill/>
          <a:ln/>
        </p:spPr>
        <p:txBody>
          <a:bodyPr wrap="square" lIns="0" tIns="0" rIns="0" bIns="0" rtlCol="0" anchor="t">
            <a:spAutoFit/>
          </a:bodyPr>
          <a:lstStyle/>
          <a:p>
            <a:pPr marL="0" indent="0" algn="l">
              <a:lnSpc>
                <a:spcPts val="1100"/>
              </a:lnSpc>
              <a:buNone/>
            </a:pPr>
            <a:r>
              <a:rPr lang="en-US" sz="650" b="1" baseline="-40000" dirty="0">
                <a:solidFill>
                  <a:srgbClr val="FFD700"/>
                </a:solidFill>
                <a:latin typeface="Inter" pitchFamily="34" charset="0"/>
                <a:ea typeface="Inter" pitchFamily="34" charset="-122"/>
                <a:cs typeface="Inter" pitchFamily="34" charset="-120"/>
              </a:rPr>
              <a:t>global-base</a:t>
            </a:r>
            <a:endParaRPr lang="en-US" sz="650" dirty="0"/>
          </a:p>
        </p:txBody>
      </p:sp>
      <p:sp>
        <p:nvSpPr>
          <p:cNvPr id="14" name="Text 10"/>
          <p:cNvSpPr/>
          <p:nvPr/>
        </p:nvSpPr>
        <p:spPr>
          <a:xfrm>
            <a:off x="767953" y="2698161"/>
            <a:ext cx="846534" cy="13751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B2DFDB"/>
                </a:solidFill>
                <a:latin typeface="Inter" pitchFamily="34" charset="0"/>
                <a:ea typeface="Inter" pitchFamily="34" charset="-122"/>
                <a:cs typeface="Inter" pitchFamily="34" charset="-120"/>
              </a:rPr>
              <a:t>を構築します。</a:t>
            </a:r>
            <a:endParaRPr lang="en-US" sz="834" dirty="0"/>
          </a:p>
        </p:txBody>
      </p:sp>
      <p:sp>
        <p:nvSpPr>
          <p:cNvPr id="15" name="Shape 11"/>
          <p:cNvSpPr/>
          <p:nvPr/>
        </p:nvSpPr>
        <p:spPr>
          <a:xfrm>
            <a:off x="3228975" y="1689497"/>
            <a:ext cx="2686050" cy="1571625"/>
          </a:xfrm>
          <a:prstGeom prst="rect">
            <a:avLst/>
          </a:prstGeom>
          <a:solidFill>
            <a:srgbClr val="004D40"/>
          </a:solidFill>
          <a:ln/>
        </p:spPr>
        <p:txBody>
          <a:bodyPr/>
          <a:lstStyle/>
          <a:p>
            <a:endParaRPr lang="ja-JP" altLang="en-US"/>
          </a:p>
        </p:txBody>
      </p:sp>
      <p:sp>
        <p:nvSpPr>
          <p:cNvPr id="16" name="Shape 12"/>
          <p:cNvSpPr/>
          <p:nvPr/>
        </p:nvSpPr>
        <p:spPr>
          <a:xfrm>
            <a:off x="3228975" y="1689497"/>
            <a:ext cx="2686050" cy="28575"/>
          </a:xfrm>
          <a:prstGeom prst="rect">
            <a:avLst/>
          </a:prstGeom>
          <a:solidFill>
            <a:srgbClr val="FFD700"/>
          </a:solidFill>
          <a:ln/>
        </p:spPr>
        <p:txBody>
          <a:bodyPr/>
          <a:lstStyle/>
          <a:p>
            <a:endParaRPr lang="ja-JP" altLang="en-US"/>
          </a:p>
        </p:txBody>
      </p:sp>
      <p:sp>
        <p:nvSpPr>
          <p:cNvPr id="17" name="Text 13"/>
          <p:cNvSpPr/>
          <p:nvPr/>
        </p:nvSpPr>
        <p:spPr>
          <a:xfrm>
            <a:off x="3343275" y="1803797"/>
            <a:ext cx="2457450" cy="126802"/>
          </a:xfrm>
          <a:prstGeom prst="rect">
            <a:avLst/>
          </a:prstGeom>
          <a:noFill/>
          <a:ln/>
        </p:spPr>
        <p:txBody>
          <a:bodyPr wrap="none" lIns="0" tIns="0" rIns="0" bIns="0" rtlCol="0" anchor="t">
            <a:spAutoFit/>
          </a:bodyPr>
          <a:lstStyle/>
          <a:p>
            <a:pPr marL="0" indent="0" algn="l">
              <a:lnSpc>
                <a:spcPts val="900"/>
              </a:lnSpc>
              <a:buNone/>
            </a:pPr>
            <a:r>
              <a:rPr lang="en-US" sz="727" dirty="0">
                <a:solidFill>
                  <a:srgbClr val="FFD700"/>
                </a:solidFill>
                <a:latin typeface="Space Grotesk" pitchFamily="34" charset="0"/>
                <a:ea typeface="Space Grotesk" pitchFamily="34" charset="-122"/>
                <a:cs typeface="Space Grotesk" pitchFamily="34" charset="-120"/>
              </a:rPr>
              <a:t>STEP 02</a:t>
            </a:r>
            <a:endParaRPr lang="en-US" sz="727" dirty="0"/>
          </a:p>
        </p:txBody>
      </p:sp>
      <p:pic>
        <p:nvPicPr>
          <p:cNvPr id="18" name="Image 2" descr="preencoded.png"/>
          <p:cNvPicPr>
            <a:picLocks noChangeAspect="1"/>
          </p:cNvPicPr>
          <p:nvPr/>
        </p:nvPicPr>
        <p:blipFill>
          <a:blip r:embed="rId5"/>
          <a:stretch>
            <a:fillRect/>
          </a:stretch>
        </p:blipFill>
        <p:spPr>
          <a:xfrm>
            <a:off x="3343275" y="2029718"/>
            <a:ext cx="176808" cy="157163"/>
          </a:xfrm>
          <a:prstGeom prst="rect">
            <a:avLst/>
          </a:prstGeom>
        </p:spPr>
      </p:pic>
      <p:sp>
        <p:nvSpPr>
          <p:cNvPr id="19" name="Text 14"/>
          <p:cNvSpPr/>
          <p:nvPr/>
        </p:nvSpPr>
        <p:spPr>
          <a:xfrm>
            <a:off x="3591520" y="2002036"/>
            <a:ext cx="796528" cy="21252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0F0F0"/>
                </a:solidFill>
                <a:latin typeface="Inter" pitchFamily="34" charset="0"/>
                <a:ea typeface="Inter" pitchFamily="34" charset="-122"/>
                <a:cs typeface="Inter" pitchFamily="34" charset="-120"/>
              </a:rPr>
              <a:t>マスク適用</a:t>
            </a:r>
            <a:endParaRPr lang="en-US" sz="1090" dirty="0"/>
          </a:p>
        </p:txBody>
      </p:sp>
      <p:sp>
        <p:nvSpPr>
          <p:cNvPr id="20" name="Text 15"/>
          <p:cNvSpPr/>
          <p:nvPr/>
        </p:nvSpPr>
        <p:spPr>
          <a:xfrm>
            <a:off x="3343275" y="2321719"/>
            <a:ext cx="2457450"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2DFDB"/>
                </a:solidFill>
                <a:latin typeface="Inter" pitchFamily="34" charset="0"/>
                <a:ea typeface="Inter" pitchFamily="34" charset="-122"/>
                <a:cs typeface="Inter" pitchFamily="34" charset="-120"/>
              </a:rPr>
              <a:t>学習可能なアテンションマスク </a:t>
            </a:r>
            <a:r>
              <a:rPr lang="en-US" sz="784" b="1" dirty="0">
                <a:solidFill>
                  <a:srgbClr val="FFD700"/>
                </a:solidFill>
                <a:latin typeface="Inter" pitchFamily="34" charset="0"/>
                <a:ea typeface="Inter" pitchFamily="34" charset="-122"/>
                <a:cs typeface="Inter" pitchFamily="34" charset="-120"/>
              </a:rPr>
              <a:t>M</a:t>
            </a:r>
            <a:r>
              <a:rPr lang="en-US" sz="834" dirty="0">
                <a:solidFill>
                  <a:srgbClr val="B2DFDB"/>
                </a:solidFill>
                <a:latin typeface="Inter" pitchFamily="34" charset="0"/>
                <a:ea typeface="Inter" pitchFamily="34" charset="-122"/>
                <a:cs typeface="Inter" pitchFamily="34" charset="-120"/>
              </a:rPr>
              <a:t> を掛け合わせ、タスクに重要な「つながり」を強調・選択します。</a:t>
            </a:r>
            <a:endParaRPr lang="en-US" sz="834" dirty="0"/>
          </a:p>
        </p:txBody>
      </p:sp>
      <p:sp>
        <p:nvSpPr>
          <p:cNvPr id="21" name="Shape 16"/>
          <p:cNvSpPr/>
          <p:nvPr/>
        </p:nvSpPr>
        <p:spPr>
          <a:xfrm>
            <a:off x="6029325" y="1689497"/>
            <a:ext cx="2686050" cy="1571625"/>
          </a:xfrm>
          <a:prstGeom prst="rect">
            <a:avLst/>
          </a:prstGeom>
          <a:solidFill>
            <a:srgbClr val="004D40"/>
          </a:solidFill>
          <a:ln/>
        </p:spPr>
        <p:txBody>
          <a:bodyPr/>
          <a:lstStyle/>
          <a:p>
            <a:endParaRPr lang="ja-JP" altLang="en-US"/>
          </a:p>
        </p:txBody>
      </p:sp>
      <p:sp>
        <p:nvSpPr>
          <p:cNvPr id="22" name="Shape 17"/>
          <p:cNvSpPr/>
          <p:nvPr/>
        </p:nvSpPr>
        <p:spPr>
          <a:xfrm>
            <a:off x="6029325" y="1689497"/>
            <a:ext cx="2686050" cy="28575"/>
          </a:xfrm>
          <a:prstGeom prst="rect">
            <a:avLst/>
          </a:prstGeom>
          <a:solidFill>
            <a:srgbClr val="FFD700"/>
          </a:solidFill>
          <a:ln/>
        </p:spPr>
        <p:txBody>
          <a:bodyPr/>
          <a:lstStyle/>
          <a:p>
            <a:endParaRPr lang="ja-JP" altLang="en-US"/>
          </a:p>
        </p:txBody>
      </p:sp>
      <p:sp>
        <p:nvSpPr>
          <p:cNvPr id="23" name="Text 18"/>
          <p:cNvSpPr/>
          <p:nvPr/>
        </p:nvSpPr>
        <p:spPr>
          <a:xfrm>
            <a:off x="6143625" y="1803797"/>
            <a:ext cx="2457450" cy="126802"/>
          </a:xfrm>
          <a:prstGeom prst="rect">
            <a:avLst/>
          </a:prstGeom>
          <a:noFill/>
          <a:ln/>
        </p:spPr>
        <p:txBody>
          <a:bodyPr wrap="none" lIns="0" tIns="0" rIns="0" bIns="0" rtlCol="0" anchor="t">
            <a:spAutoFit/>
          </a:bodyPr>
          <a:lstStyle/>
          <a:p>
            <a:pPr marL="0" indent="0" algn="l">
              <a:lnSpc>
                <a:spcPts val="900"/>
              </a:lnSpc>
              <a:buNone/>
            </a:pPr>
            <a:r>
              <a:rPr lang="en-US" sz="727" dirty="0">
                <a:solidFill>
                  <a:srgbClr val="FFD700"/>
                </a:solidFill>
                <a:latin typeface="Space Grotesk" pitchFamily="34" charset="0"/>
                <a:ea typeface="Space Grotesk" pitchFamily="34" charset="-122"/>
                <a:cs typeface="Space Grotesk" pitchFamily="34" charset="-120"/>
              </a:rPr>
              <a:t>STEP 03</a:t>
            </a:r>
            <a:endParaRPr lang="en-US" sz="727" dirty="0"/>
          </a:p>
        </p:txBody>
      </p:sp>
      <p:pic>
        <p:nvPicPr>
          <p:cNvPr id="24" name="Image 3" descr="preencoded.png"/>
          <p:cNvPicPr>
            <a:picLocks noChangeAspect="1"/>
          </p:cNvPicPr>
          <p:nvPr/>
        </p:nvPicPr>
        <p:blipFill>
          <a:blip r:embed="rId6"/>
          <a:stretch>
            <a:fillRect/>
          </a:stretch>
        </p:blipFill>
        <p:spPr>
          <a:xfrm>
            <a:off x="6143625" y="2029718"/>
            <a:ext cx="157163" cy="157163"/>
          </a:xfrm>
          <a:prstGeom prst="rect">
            <a:avLst/>
          </a:prstGeom>
        </p:spPr>
      </p:pic>
      <p:sp>
        <p:nvSpPr>
          <p:cNvPr id="25" name="Text 19"/>
          <p:cNvSpPr/>
          <p:nvPr/>
        </p:nvSpPr>
        <p:spPr>
          <a:xfrm>
            <a:off x="6372225" y="2002036"/>
            <a:ext cx="792956" cy="21252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0F0F0"/>
                </a:solidFill>
                <a:latin typeface="Inter" pitchFamily="34" charset="0"/>
                <a:ea typeface="Inter" pitchFamily="34" charset="-122"/>
                <a:cs typeface="Inter" pitchFamily="34" charset="-120"/>
              </a:rPr>
              <a:t>自己ループ</a:t>
            </a:r>
            <a:endParaRPr lang="en-US" sz="1090" dirty="0"/>
          </a:p>
        </p:txBody>
      </p:sp>
      <p:sp>
        <p:nvSpPr>
          <p:cNvPr id="26" name="Text 20"/>
          <p:cNvSpPr/>
          <p:nvPr/>
        </p:nvSpPr>
        <p:spPr>
          <a:xfrm>
            <a:off x="6143625" y="2321719"/>
            <a:ext cx="2457450"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B2DFDB"/>
                </a:solidFill>
                <a:latin typeface="Inter" pitchFamily="34" charset="0"/>
                <a:ea typeface="Inter" pitchFamily="34" charset="-122"/>
                <a:cs typeface="Inter" pitchFamily="34" charset="-120"/>
              </a:rPr>
              <a:t>自己ループ </a:t>
            </a:r>
            <a:r>
              <a:rPr lang="en-US" sz="784" b="1" dirty="0">
                <a:solidFill>
                  <a:srgbClr val="FFD700"/>
                </a:solidFill>
                <a:latin typeface="Inter" pitchFamily="34" charset="0"/>
                <a:ea typeface="Inter" pitchFamily="34" charset="-122"/>
                <a:cs typeface="Inter" pitchFamily="34" charset="-120"/>
              </a:rPr>
              <a:t>I</a:t>
            </a:r>
            <a:r>
              <a:rPr lang="en-US" sz="834" dirty="0">
                <a:solidFill>
                  <a:srgbClr val="B2DFDB"/>
                </a:solidFill>
                <a:latin typeface="Inter" pitchFamily="34" charset="0"/>
                <a:ea typeface="Inter" pitchFamily="34" charset="-122"/>
                <a:cs typeface="Inter" pitchFamily="34" charset="-120"/>
              </a:rPr>
              <a:t> を追加し、各領域自身の情報も保持した状態でグラフ畳み込み（GCN）を行います。</a:t>
            </a:r>
            <a:endParaRPr lang="en-US" sz="834" dirty="0"/>
          </a:p>
        </p:txBody>
      </p:sp>
      <p:sp>
        <p:nvSpPr>
          <p:cNvPr id="27" name="Shape 21"/>
          <p:cNvSpPr/>
          <p:nvPr/>
        </p:nvSpPr>
        <p:spPr>
          <a:xfrm>
            <a:off x="428625" y="3432572"/>
            <a:ext cx="8286750" cy="570774"/>
          </a:xfrm>
          <a:prstGeom prst="rect">
            <a:avLst/>
          </a:prstGeom>
          <a:solidFill>
            <a:srgbClr val="FFD700">
              <a:alpha val="5000"/>
            </a:srgbClr>
          </a:solidFill>
          <a:ln w="9144">
            <a:solidFill>
              <a:srgbClr val="FFD700"/>
            </a:solidFill>
            <a:prstDash val="dash"/>
          </a:ln>
        </p:spPr>
        <p:txBody>
          <a:bodyPr/>
          <a:lstStyle/>
          <a:p>
            <a:endParaRPr lang="ja-JP" altLang="en-US"/>
          </a:p>
        </p:txBody>
      </p:sp>
      <p:sp>
        <p:nvSpPr>
          <p:cNvPr id="28" name="Text 22"/>
          <p:cNvSpPr/>
          <p:nvPr/>
        </p:nvSpPr>
        <p:spPr>
          <a:xfrm>
            <a:off x="3002161" y="3546872"/>
            <a:ext cx="1184077"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D700"/>
                </a:solidFill>
                <a:latin typeface="Space Grotesk" pitchFamily="34" charset="0"/>
                <a:ea typeface="Space Grotesk" pitchFamily="34" charset="-122"/>
                <a:cs typeface="Space Grotesk" pitchFamily="34" charset="-120"/>
              </a:rPr>
              <a:t>A = ReLU(A</a:t>
            </a:r>
            <a:endParaRPr lang="en-US" sz="1704" dirty="0"/>
          </a:p>
        </p:txBody>
      </p:sp>
      <p:sp>
        <p:nvSpPr>
          <p:cNvPr id="29" name="Text 23"/>
          <p:cNvSpPr/>
          <p:nvPr/>
        </p:nvSpPr>
        <p:spPr>
          <a:xfrm>
            <a:off x="4186238" y="3631871"/>
            <a:ext cx="1096566" cy="242888"/>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FD700"/>
                </a:solidFill>
                <a:latin typeface="Space Grotesk" pitchFamily="34" charset="0"/>
                <a:ea typeface="Space Grotesk" pitchFamily="34" charset="-122"/>
                <a:cs typeface="Space Grotesk" pitchFamily="34" charset="-120"/>
              </a:rPr>
              <a:t>global-base</a:t>
            </a:r>
            <a:endParaRPr lang="en-US" sz="1414" dirty="0"/>
          </a:p>
        </p:txBody>
      </p:sp>
      <p:sp>
        <p:nvSpPr>
          <p:cNvPr id="30" name="Text 24"/>
          <p:cNvSpPr/>
          <p:nvPr/>
        </p:nvSpPr>
        <p:spPr>
          <a:xfrm>
            <a:off x="5282803" y="3546872"/>
            <a:ext cx="859036"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D700"/>
                </a:solidFill>
                <a:latin typeface="Space Grotesk" pitchFamily="34" charset="0"/>
                <a:ea typeface="Space Grotesk" pitchFamily="34" charset="-122"/>
                <a:cs typeface="Space Grotesk" pitchFamily="34" charset="-120"/>
              </a:rPr>
              <a:t>∘ M + I)</a:t>
            </a:r>
            <a:endParaRPr lang="en-US" sz="1704" dirty="0"/>
          </a:p>
        </p:txBody>
      </p:sp>
      <p:sp>
        <p:nvSpPr>
          <p:cNvPr id="31" name="Shape 25"/>
          <p:cNvSpPr/>
          <p:nvPr/>
        </p:nvSpPr>
        <p:spPr>
          <a:xfrm>
            <a:off x="428625" y="4074784"/>
            <a:ext cx="8286750" cy="571500"/>
          </a:xfrm>
          <a:prstGeom prst="rect">
            <a:avLst/>
          </a:prstGeom>
          <a:solidFill>
            <a:srgbClr val="FF8F00">
              <a:alpha val="10000"/>
            </a:srgbClr>
          </a:solidFill>
          <a:ln/>
        </p:spPr>
        <p:txBody>
          <a:bodyPr/>
          <a:lstStyle/>
          <a:p>
            <a:endParaRPr lang="ja-JP" altLang="en-US"/>
          </a:p>
        </p:txBody>
      </p:sp>
      <p:sp>
        <p:nvSpPr>
          <p:cNvPr id="32" name="Shape 26"/>
          <p:cNvSpPr/>
          <p:nvPr/>
        </p:nvSpPr>
        <p:spPr>
          <a:xfrm>
            <a:off x="428625" y="4074784"/>
            <a:ext cx="28575" cy="571500"/>
          </a:xfrm>
          <a:prstGeom prst="rect">
            <a:avLst/>
          </a:prstGeom>
          <a:solidFill>
            <a:srgbClr val="FF8F00"/>
          </a:solidFill>
          <a:ln/>
        </p:spPr>
        <p:txBody>
          <a:bodyPr/>
          <a:lstStyle/>
          <a:p>
            <a:endParaRPr lang="ja-JP" altLang="en-US"/>
          </a:p>
        </p:txBody>
      </p:sp>
      <p:pic>
        <p:nvPicPr>
          <p:cNvPr id="33" name="Image 4" descr="preencoded.png"/>
          <p:cNvPicPr>
            <a:picLocks noChangeAspect="1"/>
          </p:cNvPicPr>
          <p:nvPr/>
        </p:nvPicPr>
        <p:blipFill>
          <a:blip r:embed="rId7"/>
          <a:stretch>
            <a:fillRect/>
          </a:stretch>
        </p:blipFill>
        <p:spPr>
          <a:xfrm>
            <a:off x="542925" y="4205157"/>
            <a:ext cx="128588" cy="128588"/>
          </a:xfrm>
          <a:prstGeom prst="rect">
            <a:avLst/>
          </a:prstGeom>
        </p:spPr>
      </p:pic>
      <p:sp>
        <p:nvSpPr>
          <p:cNvPr id="34" name="Text 27"/>
          <p:cNvSpPr/>
          <p:nvPr/>
        </p:nvSpPr>
        <p:spPr>
          <a:xfrm>
            <a:off x="778669" y="4192656"/>
            <a:ext cx="569714"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700"/>
                </a:solidFill>
                <a:latin typeface="Inter" pitchFamily="34" charset="0"/>
                <a:ea typeface="Inter" pitchFamily="34" charset="-122"/>
                <a:cs typeface="Inter" pitchFamily="34" charset="-120"/>
              </a:rPr>
              <a:t>ポイント:</a:t>
            </a:r>
            <a:endParaRPr lang="en-US" sz="885" dirty="0"/>
          </a:p>
        </p:txBody>
      </p:sp>
      <p:sp>
        <p:nvSpPr>
          <p:cNvPr id="35" name="Text 28"/>
          <p:cNvSpPr/>
          <p:nvPr/>
        </p:nvSpPr>
        <p:spPr>
          <a:xfrm>
            <a:off x="1348383" y="4192656"/>
            <a:ext cx="4729163" cy="155377"/>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固定されたグラフではなく、入力データの内容（感情や注意の状態）に応じて、</a:t>
            </a:r>
            <a:endParaRPr lang="en-US" sz="942" dirty="0"/>
          </a:p>
        </p:txBody>
      </p:sp>
      <p:sp>
        <p:nvSpPr>
          <p:cNvPr id="36" name="Text 29"/>
          <p:cNvSpPr/>
          <p:nvPr/>
        </p:nvSpPr>
        <p:spPr>
          <a:xfrm>
            <a:off x="6077545" y="4192656"/>
            <a:ext cx="1957388"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700"/>
                </a:solidFill>
                <a:latin typeface="Inter" pitchFamily="34" charset="0"/>
                <a:ea typeface="Inter" pitchFamily="34" charset="-122"/>
                <a:cs typeface="Inter" pitchFamily="34" charset="-120"/>
              </a:rPr>
              <a:t>その都度最適なネットワーク構造</a:t>
            </a:r>
            <a:endParaRPr lang="en-US" sz="885" dirty="0"/>
          </a:p>
        </p:txBody>
      </p:sp>
      <p:sp>
        <p:nvSpPr>
          <p:cNvPr id="37" name="Text 30"/>
          <p:cNvSpPr/>
          <p:nvPr/>
        </p:nvSpPr>
        <p:spPr>
          <a:xfrm>
            <a:off x="8034933" y="4192656"/>
            <a:ext cx="521494" cy="155377"/>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が生成さ</a:t>
            </a:r>
            <a:endParaRPr lang="en-US" sz="942" dirty="0"/>
          </a:p>
        </p:txBody>
      </p:sp>
      <p:sp>
        <p:nvSpPr>
          <p:cNvPr id="38" name="Text 31"/>
          <p:cNvSpPr/>
          <p:nvPr/>
        </p:nvSpPr>
        <p:spPr>
          <a:xfrm>
            <a:off x="542925" y="4364106"/>
            <a:ext cx="1791295" cy="155377"/>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れるのがLGGNetの強みです。</a:t>
            </a:r>
            <a:endParaRPr lang="en-US" sz="94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405408"/>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FFD700"/>
                </a:solidFill>
                <a:latin typeface="Space Grotesk" pitchFamily="34" charset="0"/>
                <a:ea typeface="Space Grotesk" pitchFamily="34" charset="-122"/>
                <a:cs typeface="Space Grotesk" pitchFamily="34" charset="-120"/>
              </a:rPr>
              <a:t>3種類のLGG定義 - 脳の「地図」のバリエーション</a:t>
            </a:r>
            <a:endParaRPr lang="en-US" sz="2121" dirty="0"/>
          </a:p>
        </p:txBody>
      </p:sp>
      <p:sp>
        <p:nvSpPr>
          <p:cNvPr id="4" name="Text 1"/>
          <p:cNvSpPr/>
          <p:nvPr/>
        </p:nvSpPr>
        <p:spPr>
          <a:xfrm>
            <a:off x="428625" y="976908"/>
            <a:ext cx="8286750"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B2DFDB"/>
                </a:solidFill>
                <a:latin typeface="Inter" pitchFamily="34" charset="0"/>
                <a:ea typeface="Inter" pitchFamily="34" charset="-122"/>
                <a:cs typeface="Inter" pitchFamily="34" charset="-120"/>
              </a:rPr>
              <a:t>タスクや解析目的に合わせて、脳の分割方法（グラフ定義）を使い分けることができます。これにより、特定の認知機能に関連する脳活動をより効果的に抽出できます。</a:t>
            </a:r>
            <a:endParaRPr lang="en-US" sz="1050" dirty="0"/>
          </a:p>
        </p:txBody>
      </p:sp>
      <p:sp>
        <p:nvSpPr>
          <p:cNvPr id="5" name="Shape 2"/>
          <p:cNvSpPr/>
          <p:nvPr/>
        </p:nvSpPr>
        <p:spPr>
          <a:xfrm>
            <a:off x="428625" y="1648420"/>
            <a:ext cx="8286750" cy="2607469"/>
          </a:xfrm>
          <a:prstGeom prst="rect">
            <a:avLst/>
          </a:prstGeom>
          <a:solidFill>
            <a:srgbClr val="004D40"/>
          </a:solidFill>
          <a:ln w="9144">
            <a:solidFill>
              <a:srgbClr val="063131"/>
            </a:solidFill>
            <a:prstDash val="solid"/>
          </a:ln>
        </p:spPr>
        <p:txBody>
          <a:bodyPr/>
          <a:lstStyle/>
          <a:p>
            <a:endParaRPr lang="ja-JP" altLang="en-US"/>
          </a:p>
        </p:txBody>
      </p:sp>
      <p:sp>
        <p:nvSpPr>
          <p:cNvPr id="6" name="Shape 3"/>
          <p:cNvSpPr/>
          <p:nvPr/>
        </p:nvSpPr>
        <p:spPr>
          <a:xfrm>
            <a:off x="900113" y="1648420"/>
            <a:ext cx="1323826" cy="542925"/>
          </a:xfrm>
          <a:prstGeom prst="rect">
            <a:avLst/>
          </a:prstGeom>
          <a:solidFill>
            <a:srgbClr val="063131"/>
          </a:solidFill>
          <a:ln/>
        </p:spPr>
        <p:txBody>
          <a:bodyPr/>
          <a:lstStyle/>
          <a:p>
            <a:endParaRPr lang="ja-JP" altLang="en-US"/>
          </a:p>
        </p:txBody>
      </p:sp>
      <p:sp>
        <p:nvSpPr>
          <p:cNvPr id="7" name="Shape 4"/>
          <p:cNvSpPr/>
          <p:nvPr/>
        </p:nvSpPr>
        <p:spPr>
          <a:xfrm>
            <a:off x="900113" y="2184202"/>
            <a:ext cx="1323826" cy="7144"/>
          </a:xfrm>
          <a:prstGeom prst="rect">
            <a:avLst/>
          </a:prstGeom>
          <a:solidFill>
            <a:srgbClr val="063131"/>
          </a:solidFill>
          <a:ln/>
        </p:spPr>
        <p:txBody>
          <a:bodyPr/>
          <a:lstStyle/>
          <a:p>
            <a:endParaRPr lang="ja-JP" altLang="en-US"/>
          </a:p>
        </p:txBody>
      </p:sp>
      <p:sp>
        <p:nvSpPr>
          <p:cNvPr id="8" name="Text 5"/>
          <p:cNvSpPr/>
          <p:nvPr/>
        </p:nvSpPr>
        <p:spPr>
          <a:xfrm>
            <a:off x="900113" y="1648420"/>
            <a:ext cx="1323826" cy="542925"/>
          </a:xfrm>
          <a:prstGeom prst="rect">
            <a:avLst/>
          </a:prstGeom>
          <a:noFill/>
          <a:ln/>
        </p:spPr>
        <p:txBody>
          <a:bodyPr wrap="square" lIns="204089" tIns="204089" rIns="204089" bIns="204089" rtlCol="0" anchor="ctr">
            <a:spAutoFit/>
          </a:bodyPr>
          <a:lstStyle/>
          <a:p>
            <a:pPr marL="0" indent="0" algn="l">
              <a:lnSpc>
                <a:spcPts val="1400"/>
              </a:lnSpc>
              <a:buNone/>
            </a:pPr>
            <a:r>
              <a:rPr lang="en-US" sz="987" b="1" dirty="0">
                <a:solidFill>
                  <a:srgbClr val="FFD700"/>
                </a:solidFill>
                <a:latin typeface="Space Grotesk" pitchFamily="34" charset="0"/>
                <a:ea typeface="Space Grotesk" pitchFamily="34" charset="-122"/>
                <a:cs typeface="Space Grotesk" pitchFamily="34" charset="-120"/>
              </a:rPr>
              <a:t>定義名</a:t>
            </a:r>
            <a:endParaRPr lang="en-US" sz="987" dirty="0"/>
          </a:p>
        </p:txBody>
      </p:sp>
      <p:sp>
        <p:nvSpPr>
          <p:cNvPr id="9" name="Shape 6"/>
          <p:cNvSpPr/>
          <p:nvPr/>
        </p:nvSpPr>
        <p:spPr>
          <a:xfrm>
            <a:off x="2223939" y="1648420"/>
            <a:ext cx="4825519" cy="542925"/>
          </a:xfrm>
          <a:prstGeom prst="rect">
            <a:avLst/>
          </a:prstGeom>
          <a:solidFill>
            <a:srgbClr val="063131"/>
          </a:solidFill>
          <a:ln/>
        </p:spPr>
        <p:txBody>
          <a:bodyPr/>
          <a:lstStyle/>
          <a:p>
            <a:endParaRPr lang="ja-JP" altLang="en-US"/>
          </a:p>
        </p:txBody>
      </p:sp>
      <p:sp>
        <p:nvSpPr>
          <p:cNvPr id="10" name="Shape 7"/>
          <p:cNvSpPr/>
          <p:nvPr/>
        </p:nvSpPr>
        <p:spPr>
          <a:xfrm>
            <a:off x="2223939" y="2184202"/>
            <a:ext cx="4825519" cy="7144"/>
          </a:xfrm>
          <a:prstGeom prst="rect">
            <a:avLst/>
          </a:prstGeom>
          <a:solidFill>
            <a:srgbClr val="063131"/>
          </a:solidFill>
          <a:ln/>
        </p:spPr>
        <p:txBody>
          <a:bodyPr/>
          <a:lstStyle/>
          <a:p>
            <a:endParaRPr lang="ja-JP" altLang="en-US"/>
          </a:p>
        </p:txBody>
      </p:sp>
      <p:sp>
        <p:nvSpPr>
          <p:cNvPr id="11" name="Text 8"/>
          <p:cNvSpPr/>
          <p:nvPr/>
        </p:nvSpPr>
        <p:spPr>
          <a:xfrm>
            <a:off x="2223939" y="1648420"/>
            <a:ext cx="4825519" cy="542925"/>
          </a:xfrm>
          <a:prstGeom prst="rect">
            <a:avLst/>
          </a:prstGeom>
          <a:noFill/>
          <a:ln/>
        </p:spPr>
        <p:txBody>
          <a:bodyPr wrap="square" lIns="204089" tIns="204089" rIns="204089" bIns="204089" rtlCol="0" anchor="ctr">
            <a:spAutoFit/>
          </a:bodyPr>
          <a:lstStyle/>
          <a:p>
            <a:pPr marL="0" indent="0" algn="l">
              <a:lnSpc>
                <a:spcPts val="1400"/>
              </a:lnSpc>
              <a:buNone/>
            </a:pPr>
            <a:r>
              <a:rPr lang="en-US" sz="987" b="1" dirty="0">
                <a:solidFill>
                  <a:srgbClr val="FFD700"/>
                </a:solidFill>
                <a:latin typeface="Space Grotesk" pitchFamily="34" charset="0"/>
                <a:ea typeface="Space Grotesk" pitchFamily="34" charset="-122"/>
                <a:cs typeface="Space Grotesk" pitchFamily="34" charset="-120"/>
              </a:rPr>
              <a:t>内容・特徴</a:t>
            </a:r>
            <a:endParaRPr lang="en-US" sz="987" dirty="0"/>
          </a:p>
        </p:txBody>
      </p:sp>
      <p:sp>
        <p:nvSpPr>
          <p:cNvPr id="12" name="Shape 9"/>
          <p:cNvSpPr/>
          <p:nvPr/>
        </p:nvSpPr>
        <p:spPr>
          <a:xfrm>
            <a:off x="7049458" y="1648420"/>
            <a:ext cx="1665917" cy="542925"/>
          </a:xfrm>
          <a:prstGeom prst="rect">
            <a:avLst/>
          </a:prstGeom>
          <a:solidFill>
            <a:srgbClr val="063131"/>
          </a:solidFill>
          <a:ln/>
        </p:spPr>
        <p:txBody>
          <a:bodyPr/>
          <a:lstStyle/>
          <a:p>
            <a:endParaRPr lang="ja-JP" altLang="en-US"/>
          </a:p>
        </p:txBody>
      </p:sp>
      <p:sp>
        <p:nvSpPr>
          <p:cNvPr id="13" name="Shape 10"/>
          <p:cNvSpPr/>
          <p:nvPr/>
        </p:nvSpPr>
        <p:spPr>
          <a:xfrm>
            <a:off x="7049458" y="2184202"/>
            <a:ext cx="1665917" cy="7144"/>
          </a:xfrm>
          <a:prstGeom prst="rect">
            <a:avLst/>
          </a:prstGeom>
          <a:solidFill>
            <a:srgbClr val="063131"/>
          </a:solidFill>
          <a:ln/>
        </p:spPr>
        <p:txBody>
          <a:bodyPr/>
          <a:lstStyle/>
          <a:p>
            <a:endParaRPr lang="ja-JP" altLang="en-US"/>
          </a:p>
        </p:txBody>
      </p:sp>
      <p:sp>
        <p:nvSpPr>
          <p:cNvPr id="14" name="Text 11"/>
          <p:cNvSpPr/>
          <p:nvPr/>
        </p:nvSpPr>
        <p:spPr>
          <a:xfrm>
            <a:off x="7049458" y="1648420"/>
            <a:ext cx="1665917" cy="542925"/>
          </a:xfrm>
          <a:prstGeom prst="rect">
            <a:avLst/>
          </a:prstGeom>
          <a:noFill/>
          <a:ln/>
        </p:spPr>
        <p:txBody>
          <a:bodyPr wrap="square" lIns="204089" tIns="204089" rIns="204089" bIns="204089" rtlCol="0" anchor="ctr">
            <a:spAutoFit/>
          </a:bodyPr>
          <a:lstStyle/>
          <a:p>
            <a:pPr marL="0" indent="0" algn="l">
              <a:lnSpc>
                <a:spcPts val="1400"/>
              </a:lnSpc>
              <a:buNone/>
            </a:pPr>
            <a:r>
              <a:rPr lang="en-US" sz="987" b="1" dirty="0">
                <a:solidFill>
                  <a:srgbClr val="FFD700"/>
                </a:solidFill>
                <a:latin typeface="Space Grotesk" pitchFamily="34" charset="0"/>
                <a:ea typeface="Space Grotesk" pitchFamily="34" charset="-122"/>
                <a:cs typeface="Space Grotesk" pitchFamily="34" charset="-120"/>
              </a:rPr>
              <a:t>適したタスク</a:t>
            </a:r>
            <a:endParaRPr lang="en-US" sz="987" dirty="0"/>
          </a:p>
        </p:txBody>
      </p:sp>
      <p:pic>
        <p:nvPicPr>
          <p:cNvPr id="15" name="Image 1" descr="preencoded.png"/>
          <p:cNvPicPr>
            <a:picLocks noChangeAspect="1"/>
          </p:cNvPicPr>
          <p:nvPr/>
        </p:nvPicPr>
        <p:blipFill>
          <a:blip r:embed="rId4"/>
          <a:stretch>
            <a:fillRect/>
          </a:stretch>
        </p:blipFill>
        <p:spPr>
          <a:xfrm>
            <a:off x="600075" y="2422624"/>
            <a:ext cx="128588" cy="128588"/>
          </a:xfrm>
          <a:prstGeom prst="rect">
            <a:avLst/>
          </a:prstGeom>
        </p:spPr>
      </p:pic>
      <p:sp>
        <p:nvSpPr>
          <p:cNvPr id="16" name="Text 12"/>
          <p:cNvSpPr/>
          <p:nvPr/>
        </p:nvSpPr>
        <p:spPr>
          <a:xfrm>
            <a:off x="900113" y="2184202"/>
            <a:ext cx="1323826" cy="614363"/>
          </a:xfrm>
          <a:prstGeom prst="rect">
            <a:avLst/>
          </a:prstGeom>
          <a:noFill/>
          <a:ln/>
        </p:spPr>
        <p:txBody>
          <a:bodyPr wrap="square" lIns="204089" tIns="204089" rIns="204089" bIns="204089" rtlCol="0" anchor="ctr">
            <a:spAutoFit/>
          </a:bodyPr>
          <a:lstStyle/>
          <a:p>
            <a:pPr marL="0" indent="0" algn="l">
              <a:lnSpc>
                <a:spcPts val="1200"/>
              </a:lnSpc>
              <a:buNone/>
            </a:pPr>
            <a:r>
              <a:rPr lang="en-US" sz="885" b="1" dirty="0">
                <a:solidFill>
                  <a:srgbClr val="FFD700"/>
                </a:solidFill>
                <a:latin typeface="Space Grotesk" pitchFamily="34" charset="0"/>
                <a:ea typeface="Space Grotesk" pitchFamily="34" charset="-122"/>
                <a:cs typeface="Space Grotesk" pitchFamily="34" charset="-120"/>
              </a:rPr>
              <a:t>General LGG</a:t>
            </a:r>
            <a:endParaRPr lang="en-US" sz="885" dirty="0"/>
          </a:p>
        </p:txBody>
      </p:sp>
      <p:sp>
        <p:nvSpPr>
          <p:cNvPr id="17" name="Text 13"/>
          <p:cNvSpPr/>
          <p:nvPr/>
        </p:nvSpPr>
        <p:spPr>
          <a:xfrm>
            <a:off x="2223939" y="2184202"/>
            <a:ext cx="4825519" cy="614363"/>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標準的な10-20法に基づく機能領域分割。最も汎用的な脳の「地図」です。</a:t>
            </a:r>
            <a:endParaRPr lang="en-US" sz="942" dirty="0"/>
          </a:p>
        </p:txBody>
      </p:sp>
      <p:sp>
        <p:nvSpPr>
          <p:cNvPr id="18" name="Shape 14"/>
          <p:cNvSpPr/>
          <p:nvPr/>
        </p:nvSpPr>
        <p:spPr>
          <a:xfrm>
            <a:off x="7220908" y="2412802"/>
            <a:ext cx="1059061" cy="207169"/>
          </a:xfrm>
          <a:prstGeom prst="rect">
            <a:avLst/>
          </a:prstGeom>
          <a:solidFill>
            <a:srgbClr val="FF8F00">
              <a:alpha val="10000"/>
            </a:srgbClr>
          </a:solidFill>
          <a:ln w="9144">
            <a:solidFill>
              <a:srgbClr val="FF8F00"/>
            </a:solidFill>
            <a:prstDash val="solid"/>
          </a:ln>
        </p:spPr>
        <p:txBody>
          <a:bodyPr/>
          <a:lstStyle/>
          <a:p>
            <a:endParaRPr lang="ja-JP" altLang="en-US"/>
          </a:p>
        </p:txBody>
      </p:sp>
      <p:sp>
        <p:nvSpPr>
          <p:cNvPr id="19" name="Text 15"/>
          <p:cNvSpPr/>
          <p:nvPr/>
        </p:nvSpPr>
        <p:spPr>
          <a:xfrm>
            <a:off x="7220908" y="2412802"/>
            <a:ext cx="1059061" cy="207169"/>
          </a:xfrm>
          <a:prstGeom prst="rect">
            <a:avLst/>
          </a:prstGeom>
          <a:noFill/>
          <a:ln/>
        </p:spPr>
        <p:txBody>
          <a:bodyPr wrap="square" lIns="102108" tIns="34036" rIns="102108" bIns="34036" rtlCol="0" anchor="t">
            <a:spAutoFit/>
          </a:bodyPr>
          <a:lstStyle/>
          <a:p>
            <a:pPr marL="0" indent="0" algn="l">
              <a:lnSpc>
                <a:spcPts val="900"/>
              </a:lnSpc>
              <a:buNone/>
            </a:pPr>
            <a:r>
              <a:rPr lang="en-US" sz="727" dirty="0">
                <a:solidFill>
                  <a:srgbClr val="FF8F00"/>
                </a:solidFill>
                <a:latin typeface="Inter" pitchFamily="34" charset="0"/>
                <a:ea typeface="Inter" pitchFamily="34" charset="-122"/>
                <a:cs typeface="Inter" pitchFamily="34" charset="-120"/>
              </a:rPr>
              <a:t>全般的なBCIタスク</a:t>
            </a:r>
            <a:endParaRPr lang="en-US" sz="727" dirty="0"/>
          </a:p>
        </p:txBody>
      </p:sp>
      <p:pic>
        <p:nvPicPr>
          <p:cNvPr id="20" name="Image 2" descr="preencoded.png"/>
          <p:cNvPicPr>
            <a:picLocks noChangeAspect="1"/>
          </p:cNvPicPr>
          <p:nvPr/>
        </p:nvPicPr>
        <p:blipFill>
          <a:blip r:embed="rId5"/>
          <a:stretch>
            <a:fillRect/>
          </a:stretch>
        </p:blipFill>
        <p:spPr>
          <a:xfrm>
            <a:off x="600075" y="3061990"/>
            <a:ext cx="128588" cy="128588"/>
          </a:xfrm>
          <a:prstGeom prst="rect">
            <a:avLst/>
          </a:prstGeom>
        </p:spPr>
      </p:pic>
      <p:sp>
        <p:nvSpPr>
          <p:cNvPr id="21" name="Text 16"/>
          <p:cNvSpPr/>
          <p:nvPr/>
        </p:nvSpPr>
        <p:spPr>
          <a:xfrm>
            <a:off x="900113" y="2784277"/>
            <a:ext cx="1323826" cy="692944"/>
          </a:xfrm>
          <a:prstGeom prst="rect">
            <a:avLst/>
          </a:prstGeom>
          <a:noFill/>
          <a:ln/>
        </p:spPr>
        <p:txBody>
          <a:bodyPr wrap="square" lIns="204089" tIns="204089" rIns="204089" bIns="204089" rtlCol="0" anchor="ctr">
            <a:spAutoFit/>
          </a:bodyPr>
          <a:lstStyle/>
          <a:p>
            <a:pPr marL="0" indent="0" algn="l">
              <a:lnSpc>
                <a:spcPts val="1200"/>
              </a:lnSpc>
              <a:buNone/>
            </a:pPr>
            <a:r>
              <a:rPr lang="en-US" sz="885" b="1" dirty="0">
                <a:solidFill>
                  <a:srgbClr val="FFD700"/>
                </a:solidFill>
                <a:latin typeface="Space Grotesk" pitchFamily="34" charset="0"/>
                <a:ea typeface="Space Grotesk" pitchFamily="34" charset="-122"/>
                <a:cs typeface="Space Grotesk" pitchFamily="34" charset="-120"/>
              </a:rPr>
              <a:t>Frontal LGG</a:t>
            </a:r>
            <a:endParaRPr lang="en-US" sz="885" dirty="0"/>
          </a:p>
        </p:txBody>
      </p:sp>
      <p:sp>
        <p:nvSpPr>
          <p:cNvPr id="22" name="Text 17"/>
          <p:cNvSpPr/>
          <p:nvPr/>
        </p:nvSpPr>
        <p:spPr>
          <a:xfrm>
            <a:off x="2395389" y="2959298"/>
            <a:ext cx="2596753" cy="155377"/>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前頭部をさらに細分化。感情や注意に重要な</a:t>
            </a:r>
            <a:endParaRPr lang="en-US" sz="942" dirty="0"/>
          </a:p>
        </p:txBody>
      </p:sp>
      <p:sp>
        <p:nvSpPr>
          <p:cNvPr id="23" name="Text 18"/>
          <p:cNvSpPr/>
          <p:nvPr/>
        </p:nvSpPr>
        <p:spPr>
          <a:xfrm>
            <a:off x="4992142" y="2959298"/>
            <a:ext cx="903684"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700"/>
                </a:solidFill>
                <a:latin typeface="Inter" pitchFamily="34" charset="0"/>
                <a:ea typeface="Inter" pitchFamily="34" charset="-122"/>
                <a:cs typeface="Inter" pitchFamily="34" charset="-120"/>
              </a:rPr>
              <a:t>左右の非対称性</a:t>
            </a:r>
            <a:endParaRPr lang="en-US" sz="885" dirty="0"/>
          </a:p>
        </p:txBody>
      </p:sp>
      <p:sp>
        <p:nvSpPr>
          <p:cNvPr id="24" name="Text 19"/>
          <p:cNvSpPr/>
          <p:nvPr/>
        </p:nvSpPr>
        <p:spPr>
          <a:xfrm>
            <a:off x="2395389" y="2959298"/>
            <a:ext cx="4411266" cy="326827"/>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を考慮した設計です。</a:t>
            </a:r>
            <a:endParaRPr lang="en-US" sz="942" dirty="0"/>
          </a:p>
        </p:txBody>
      </p:sp>
      <p:sp>
        <p:nvSpPr>
          <p:cNvPr id="25" name="Shape 20"/>
          <p:cNvSpPr/>
          <p:nvPr/>
        </p:nvSpPr>
        <p:spPr>
          <a:xfrm>
            <a:off x="7220908" y="3052167"/>
            <a:ext cx="1287661" cy="207169"/>
          </a:xfrm>
          <a:prstGeom prst="rect">
            <a:avLst/>
          </a:prstGeom>
          <a:solidFill>
            <a:srgbClr val="FF8F00">
              <a:alpha val="10000"/>
            </a:srgbClr>
          </a:solidFill>
          <a:ln w="9144">
            <a:solidFill>
              <a:srgbClr val="FF8F00"/>
            </a:solidFill>
            <a:prstDash val="solid"/>
          </a:ln>
        </p:spPr>
        <p:txBody>
          <a:bodyPr/>
          <a:lstStyle/>
          <a:p>
            <a:endParaRPr lang="ja-JP" altLang="en-US"/>
          </a:p>
        </p:txBody>
      </p:sp>
      <p:sp>
        <p:nvSpPr>
          <p:cNvPr id="26" name="Text 21"/>
          <p:cNvSpPr/>
          <p:nvPr/>
        </p:nvSpPr>
        <p:spPr>
          <a:xfrm>
            <a:off x="7220908" y="3052167"/>
            <a:ext cx="1287661" cy="207169"/>
          </a:xfrm>
          <a:prstGeom prst="rect">
            <a:avLst/>
          </a:prstGeom>
          <a:noFill/>
          <a:ln/>
        </p:spPr>
        <p:txBody>
          <a:bodyPr wrap="square" lIns="102108" tIns="34036" rIns="102108" bIns="34036" rtlCol="0" anchor="t">
            <a:spAutoFit/>
          </a:bodyPr>
          <a:lstStyle/>
          <a:p>
            <a:pPr marL="0" indent="0" algn="l">
              <a:lnSpc>
                <a:spcPts val="900"/>
              </a:lnSpc>
              <a:buNone/>
            </a:pPr>
            <a:r>
              <a:rPr lang="en-US" sz="727" dirty="0">
                <a:solidFill>
                  <a:srgbClr val="FF8F00"/>
                </a:solidFill>
                <a:latin typeface="Inter" pitchFamily="34" charset="0"/>
                <a:ea typeface="Inter" pitchFamily="34" charset="-122"/>
                <a:cs typeface="Inter" pitchFamily="34" charset="-120"/>
              </a:rPr>
              <a:t>感情認識・注意力の測定</a:t>
            </a:r>
            <a:endParaRPr lang="en-US" sz="727" dirty="0"/>
          </a:p>
        </p:txBody>
      </p:sp>
      <p:pic>
        <p:nvPicPr>
          <p:cNvPr id="27" name="Image 3" descr="preencoded.png"/>
          <p:cNvPicPr>
            <a:picLocks noChangeAspect="1"/>
          </p:cNvPicPr>
          <p:nvPr/>
        </p:nvPicPr>
        <p:blipFill>
          <a:blip r:embed="rId6"/>
          <a:stretch>
            <a:fillRect/>
          </a:stretch>
        </p:blipFill>
        <p:spPr>
          <a:xfrm>
            <a:off x="600075" y="3783509"/>
            <a:ext cx="128588" cy="128588"/>
          </a:xfrm>
          <a:prstGeom prst="rect">
            <a:avLst/>
          </a:prstGeom>
        </p:spPr>
      </p:pic>
      <p:sp>
        <p:nvSpPr>
          <p:cNvPr id="28" name="Text 22"/>
          <p:cNvSpPr/>
          <p:nvPr/>
        </p:nvSpPr>
        <p:spPr>
          <a:xfrm>
            <a:off x="900113" y="3477220"/>
            <a:ext cx="1323854" cy="742950"/>
          </a:xfrm>
          <a:prstGeom prst="rect">
            <a:avLst/>
          </a:prstGeom>
          <a:noFill/>
          <a:ln/>
        </p:spPr>
        <p:txBody>
          <a:bodyPr wrap="square" lIns="204089" tIns="204089" rIns="204089" bIns="204089" rtlCol="0" anchor="ctr">
            <a:spAutoFit/>
          </a:bodyPr>
          <a:lstStyle/>
          <a:p>
            <a:pPr marL="0" indent="0" algn="l">
              <a:lnSpc>
                <a:spcPts val="1200"/>
              </a:lnSpc>
              <a:buNone/>
            </a:pPr>
            <a:r>
              <a:rPr lang="en-US" sz="885" b="1" dirty="0">
                <a:solidFill>
                  <a:srgbClr val="FFD700"/>
                </a:solidFill>
                <a:latin typeface="Space Grotesk" pitchFamily="34" charset="0"/>
                <a:ea typeface="Space Grotesk" pitchFamily="34" charset="-122"/>
                <a:cs typeface="Space Grotesk" pitchFamily="34" charset="-120"/>
              </a:rPr>
              <a:t>Hemisphere LGG</a:t>
            </a:r>
            <a:endParaRPr lang="en-US" sz="885" dirty="0"/>
          </a:p>
        </p:txBody>
      </p:sp>
      <p:sp>
        <p:nvSpPr>
          <p:cNvPr id="29" name="Text 23"/>
          <p:cNvSpPr/>
          <p:nvPr/>
        </p:nvSpPr>
        <p:spPr>
          <a:xfrm>
            <a:off x="2223967" y="3477220"/>
            <a:ext cx="4826301" cy="742950"/>
          </a:xfrm>
          <a:prstGeom prst="rect">
            <a:avLst/>
          </a:prstGeom>
          <a:noFill/>
          <a:ln/>
        </p:spPr>
        <p:txBody>
          <a:bodyPr wrap="square" lIns="204089" tIns="204089" rIns="204089" bIns="204089" rtlCol="0" anchor="ctr">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全領域を左右半球で対になるように分割。脳の機能的な左右差を強調します。</a:t>
            </a:r>
            <a:endParaRPr lang="en-US" sz="942" dirty="0"/>
          </a:p>
        </p:txBody>
      </p:sp>
      <p:sp>
        <p:nvSpPr>
          <p:cNvPr id="30" name="Shape 24"/>
          <p:cNvSpPr/>
          <p:nvPr/>
        </p:nvSpPr>
        <p:spPr>
          <a:xfrm>
            <a:off x="7221717" y="3705820"/>
            <a:ext cx="1322208" cy="342900"/>
          </a:xfrm>
          <a:prstGeom prst="rect">
            <a:avLst/>
          </a:prstGeom>
          <a:solidFill>
            <a:srgbClr val="FF8F00">
              <a:alpha val="10000"/>
            </a:srgbClr>
          </a:solidFill>
          <a:ln w="9144">
            <a:solidFill>
              <a:srgbClr val="FF8F00"/>
            </a:solidFill>
            <a:prstDash val="solid"/>
          </a:ln>
        </p:spPr>
        <p:txBody>
          <a:bodyPr/>
          <a:lstStyle/>
          <a:p>
            <a:endParaRPr lang="ja-JP" altLang="en-US"/>
          </a:p>
        </p:txBody>
      </p:sp>
      <p:sp>
        <p:nvSpPr>
          <p:cNvPr id="31" name="Text 25"/>
          <p:cNvSpPr/>
          <p:nvPr/>
        </p:nvSpPr>
        <p:spPr>
          <a:xfrm>
            <a:off x="7221717" y="3705820"/>
            <a:ext cx="1322208" cy="342900"/>
          </a:xfrm>
          <a:prstGeom prst="rect">
            <a:avLst/>
          </a:prstGeom>
          <a:noFill/>
          <a:ln/>
        </p:spPr>
        <p:txBody>
          <a:bodyPr wrap="square" lIns="102108" tIns="34036" rIns="102108" bIns="34036" rtlCol="0" anchor="t">
            <a:spAutoFit/>
          </a:bodyPr>
          <a:lstStyle/>
          <a:p>
            <a:pPr marL="0" indent="0" algn="l">
              <a:lnSpc>
                <a:spcPts val="900"/>
              </a:lnSpc>
              <a:buNone/>
            </a:pPr>
            <a:r>
              <a:rPr lang="en-US" sz="727" dirty="0">
                <a:solidFill>
                  <a:srgbClr val="FF8F00"/>
                </a:solidFill>
                <a:latin typeface="Inter" pitchFamily="34" charset="0"/>
                <a:ea typeface="Inter" pitchFamily="34" charset="-122"/>
                <a:cs typeface="Inter" pitchFamily="34" charset="-120"/>
              </a:rPr>
              <a:t>左右差が重要な認知タスク</a:t>
            </a:r>
            <a:endParaRPr lang="en-US" sz="727" dirty="0"/>
          </a:p>
        </p:txBody>
      </p:sp>
      <p:sp>
        <p:nvSpPr>
          <p:cNvPr id="32" name="Shape 26"/>
          <p:cNvSpPr/>
          <p:nvPr/>
        </p:nvSpPr>
        <p:spPr>
          <a:xfrm>
            <a:off x="428625" y="4491633"/>
            <a:ext cx="8286750" cy="457200"/>
          </a:xfrm>
          <a:prstGeom prst="rect">
            <a:avLst/>
          </a:prstGeom>
          <a:solidFill>
            <a:srgbClr val="FFD700">
              <a:alpha val="5000"/>
            </a:srgbClr>
          </a:solidFill>
          <a:ln/>
        </p:spPr>
        <p:txBody>
          <a:bodyPr/>
          <a:lstStyle/>
          <a:p>
            <a:endParaRPr lang="ja-JP" altLang="en-US"/>
          </a:p>
        </p:txBody>
      </p:sp>
      <p:sp>
        <p:nvSpPr>
          <p:cNvPr id="33" name="Shape 27"/>
          <p:cNvSpPr/>
          <p:nvPr/>
        </p:nvSpPr>
        <p:spPr>
          <a:xfrm>
            <a:off x="428625" y="4491633"/>
            <a:ext cx="28575" cy="457200"/>
          </a:xfrm>
          <a:prstGeom prst="rect">
            <a:avLst/>
          </a:prstGeom>
          <a:solidFill>
            <a:srgbClr val="FFD700"/>
          </a:solidFill>
          <a:ln/>
        </p:spPr>
        <p:txBody>
          <a:bodyPr/>
          <a:lstStyle/>
          <a:p>
            <a:endParaRPr lang="ja-JP" altLang="en-US"/>
          </a:p>
        </p:txBody>
      </p:sp>
      <p:pic>
        <p:nvPicPr>
          <p:cNvPr id="34" name="Image 4" descr="preencoded.png"/>
          <p:cNvPicPr>
            <a:picLocks noChangeAspect="1"/>
          </p:cNvPicPr>
          <p:nvPr/>
        </p:nvPicPr>
        <p:blipFill>
          <a:blip r:embed="rId7"/>
          <a:stretch>
            <a:fillRect/>
          </a:stretch>
        </p:blipFill>
        <p:spPr>
          <a:xfrm>
            <a:off x="571500" y="4650581"/>
            <a:ext cx="128588" cy="128588"/>
          </a:xfrm>
          <a:prstGeom prst="rect">
            <a:avLst/>
          </a:prstGeom>
        </p:spPr>
      </p:pic>
      <p:sp>
        <p:nvSpPr>
          <p:cNvPr id="35" name="Text 28"/>
          <p:cNvSpPr/>
          <p:nvPr/>
        </p:nvSpPr>
        <p:spPr>
          <a:xfrm>
            <a:off x="771525" y="4638080"/>
            <a:ext cx="6738342" cy="155377"/>
          </a:xfrm>
          <a:prstGeom prst="rect">
            <a:avLst/>
          </a:prstGeom>
          <a:noFill/>
          <a:ln/>
        </p:spPr>
        <p:txBody>
          <a:bodyPr wrap="none" lIns="0" tIns="0" rIns="0" bIns="0" rtlCol="0" anchor="t">
            <a:spAutoFit/>
          </a:bodyPr>
          <a:lstStyle/>
          <a:p>
            <a:pPr marL="0" indent="0" algn="l">
              <a:lnSpc>
                <a:spcPts val="1200"/>
              </a:lnSpc>
              <a:buNone/>
            </a:pPr>
            <a:r>
              <a:rPr lang="en-US" sz="942" dirty="0">
                <a:solidFill>
                  <a:srgbClr val="E0F2F1"/>
                </a:solidFill>
                <a:latin typeface="Inter" pitchFamily="34" charset="0"/>
                <a:ea typeface="Inter" pitchFamily="34" charset="-122"/>
                <a:cs typeface="Inter" pitchFamily="34" charset="-120"/>
              </a:rPr>
              <a:t>神経科学の知見（Prior Knowledge）をグラフ構造として設計することが、LGGNetの精度の源泉となっています。</a:t>
            </a:r>
            <a:endParaRPr lang="en-US" sz="94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405408"/>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FFD700"/>
                </a:solidFill>
                <a:latin typeface="Space Grotesk" pitchFamily="34" charset="0"/>
                <a:ea typeface="Space Grotesk" pitchFamily="34" charset="-122"/>
                <a:cs typeface="Space Grotesk" pitchFamily="34" charset="-120"/>
              </a:rPr>
              <a:t>数式の理解 - LOCALからGLOBALへの変換</a:t>
            </a:r>
            <a:endParaRPr lang="en-US" sz="2121" dirty="0"/>
          </a:p>
        </p:txBody>
      </p:sp>
      <p:sp>
        <p:nvSpPr>
          <p:cNvPr id="4" name="Shape 1"/>
          <p:cNvSpPr/>
          <p:nvPr/>
        </p:nvSpPr>
        <p:spPr>
          <a:xfrm>
            <a:off x="428625" y="905470"/>
            <a:ext cx="8286750" cy="1042234"/>
          </a:xfrm>
          <a:prstGeom prst="rect">
            <a:avLst/>
          </a:prstGeom>
          <a:solidFill>
            <a:srgbClr val="004D40"/>
          </a:solidFill>
          <a:ln/>
        </p:spPr>
        <p:txBody>
          <a:bodyPr/>
          <a:lstStyle/>
          <a:p>
            <a:endParaRPr lang="ja-JP" altLang="en-US"/>
          </a:p>
        </p:txBody>
      </p:sp>
      <p:sp>
        <p:nvSpPr>
          <p:cNvPr id="5" name="Shape 2"/>
          <p:cNvSpPr/>
          <p:nvPr/>
        </p:nvSpPr>
        <p:spPr>
          <a:xfrm>
            <a:off x="428625" y="905470"/>
            <a:ext cx="35719" cy="1042234"/>
          </a:xfrm>
          <a:prstGeom prst="rect">
            <a:avLst/>
          </a:prstGeom>
          <a:solidFill>
            <a:srgbClr val="FFD700"/>
          </a:solidFill>
          <a:ln/>
        </p:spPr>
        <p:txBody>
          <a:bodyPr/>
          <a:lstStyle/>
          <a:p>
            <a:endParaRPr lang="ja-JP" altLang="en-US"/>
          </a:p>
        </p:txBody>
      </p:sp>
      <p:sp>
        <p:nvSpPr>
          <p:cNvPr id="6" name="Text 3"/>
          <p:cNvSpPr/>
          <p:nvPr/>
        </p:nvSpPr>
        <p:spPr>
          <a:xfrm>
            <a:off x="600075" y="1122043"/>
            <a:ext cx="2943225" cy="212527"/>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FFD700"/>
                </a:solidFill>
                <a:latin typeface="Space Grotesk" pitchFamily="34" charset="0"/>
                <a:ea typeface="Space Grotesk" pitchFamily="34" charset="-122"/>
                <a:cs typeface="Space Grotesk" pitchFamily="34" charset="-120"/>
              </a:rPr>
              <a:t>1. LOCAL集約 (AGGREGATION)</a:t>
            </a:r>
            <a:endParaRPr lang="en-US" sz="1159" dirty="0"/>
          </a:p>
        </p:txBody>
      </p:sp>
      <p:sp>
        <p:nvSpPr>
          <p:cNvPr id="7" name="Text 4"/>
          <p:cNvSpPr/>
          <p:nvPr/>
        </p:nvSpPr>
        <p:spPr>
          <a:xfrm>
            <a:off x="600075" y="1402435"/>
            <a:ext cx="260747" cy="13751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B2DFDB"/>
                </a:solidFill>
                <a:latin typeface="Inter" pitchFamily="34" charset="0"/>
                <a:ea typeface="Inter" pitchFamily="34" charset="-122"/>
                <a:cs typeface="Inter" pitchFamily="34" charset="-120"/>
              </a:rPr>
              <a:t>領域</a:t>
            </a:r>
            <a:endParaRPr lang="en-US" sz="834" dirty="0"/>
          </a:p>
        </p:txBody>
      </p:sp>
      <p:sp>
        <p:nvSpPr>
          <p:cNvPr id="8" name="Text 5"/>
          <p:cNvSpPr/>
          <p:nvPr/>
        </p:nvSpPr>
        <p:spPr>
          <a:xfrm>
            <a:off x="860822" y="1402435"/>
            <a:ext cx="44648" cy="13751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D700"/>
                </a:solidFill>
                <a:latin typeface="Inter" pitchFamily="34" charset="0"/>
                <a:ea typeface="Inter" pitchFamily="34" charset="-122"/>
                <a:cs typeface="Inter" pitchFamily="34" charset="-120"/>
              </a:rPr>
              <a:t>r</a:t>
            </a:r>
            <a:endParaRPr lang="en-US" sz="784" dirty="0"/>
          </a:p>
        </p:txBody>
      </p:sp>
      <p:sp>
        <p:nvSpPr>
          <p:cNvPr id="9" name="Text 6"/>
          <p:cNvSpPr/>
          <p:nvPr/>
        </p:nvSpPr>
        <p:spPr>
          <a:xfrm>
            <a:off x="905470" y="1402435"/>
            <a:ext cx="296466" cy="13751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B2DFDB"/>
                </a:solidFill>
                <a:latin typeface="Inter" pitchFamily="34" charset="0"/>
                <a:ea typeface="Inter" pitchFamily="34" charset="-122"/>
                <a:cs typeface="Inter" pitchFamily="34" charset="-120"/>
              </a:rPr>
              <a:t>内の</a:t>
            </a:r>
            <a:endParaRPr lang="en-US" sz="834" dirty="0"/>
          </a:p>
        </p:txBody>
      </p:sp>
      <p:sp>
        <p:nvSpPr>
          <p:cNvPr id="10" name="Text 7"/>
          <p:cNvSpPr/>
          <p:nvPr/>
        </p:nvSpPr>
        <p:spPr>
          <a:xfrm>
            <a:off x="1201936" y="1402435"/>
            <a:ext cx="73223" cy="13751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D700"/>
                </a:solidFill>
                <a:latin typeface="Inter" pitchFamily="34" charset="0"/>
                <a:ea typeface="Inter" pitchFamily="34" charset="-122"/>
                <a:cs typeface="Inter" pitchFamily="34" charset="-120"/>
              </a:rPr>
              <a:t>P</a:t>
            </a:r>
            <a:endParaRPr lang="en-US" sz="784" dirty="0"/>
          </a:p>
        </p:txBody>
      </p:sp>
      <p:sp>
        <p:nvSpPr>
          <p:cNvPr id="11" name="Text 8"/>
          <p:cNvSpPr/>
          <p:nvPr/>
        </p:nvSpPr>
        <p:spPr>
          <a:xfrm>
            <a:off x="1275159" y="1444935"/>
            <a:ext cx="37505" cy="116086"/>
          </a:xfrm>
          <a:prstGeom prst="rect">
            <a:avLst/>
          </a:prstGeom>
          <a:noFill/>
          <a:ln/>
        </p:spPr>
        <p:txBody>
          <a:bodyPr wrap="none" lIns="0" tIns="0" rIns="0" bIns="0" rtlCol="0" anchor="t">
            <a:spAutoFit/>
          </a:bodyPr>
          <a:lstStyle/>
          <a:p>
            <a:pPr marL="0" indent="0" algn="l">
              <a:lnSpc>
                <a:spcPts val="1100"/>
              </a:lnSpc>
              <a:buNone/>
            </a:pPr>
            <a:r>
              <a:rPr lang="en-US" sz="650" b="1" baseline="-40000" dirty="0">
                <a:solidFill>
                  <a:srgbClr val="FFD700"/>
                </a:solidFill>
                <a:latin typeface="Inter" pitchFamily="34" charset="0"/>
                <a:ea typeface="Inter" pitchFamily="34" charset="-122"/>
                <a:cs typeface="Inter" pitchFamily="34" charset="-120"/>
              </a:rPr>
              <a:t>r</a:t>
            </a:r>
            <a:endParaRPr lang="en-US" sz="650" dirty="0"/>
          </a:p>
        </p:txBody>
      </p:sp>
      <p:sp>
        <p:nvSpPr>
          <p:cNvPr id="12" name="Text 9"/>
          <p:cNvSpPr/>
          <p:nvPr/>
        </p:nvSpPr>
        <p:spPr>
          <a:xfrm>
            <a:off x="1312664" y="1402435"/>
            <a:ext cx="2110978" cy="13751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B2DFDB"/>
                </a:solidFill>
                <a:latin typeface="Inter" pitchFamily="34" charset="0"/>
                <a:ea typeface="Inter" pitchFamily="34" charset="-122"/>
                <a:cs typeface="Inter" pitchFamily="34" charset="-120"/>
              </a:rPr>
              <a:t>個のノード情報を平均化し、領域全体の</a:t>
            </a:r>
            <a:endParaRPr lang="en-US" sz="834" dirty="0"/>
          </a:p>
        </p:txBody>
      </p:sp>
      <p:sp>
        <p:nvSpPr>
          <p:cNvPr id="13" name="Text 10"/>
          <p:cNvSpPr/>
          <p:nvPr/>
        </p:nvSpPr>
        <p:spPr>
          <a:xfrm>
            <a:off x="600075" y="1402435"/>
            <a:ext cx="2937867" cy="316920"/>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B2DFDB"/>
                </a:solidFill>
                <a:latin typeface="Inter" pitchFamily="34" charset="0"/>
                <a:ea typeface="Inter" pitchFamily="34" charset="-122"/>
                <a:cs typeface="Inter" pitchFamily="34" charset="-120"/>
              </a:rPr>
              <a:t>活動を表すベクトルを得ます。</a:t>
            </a:r>
            <a:endParaRPr lang="en-US" sz="834" dirty="0"/>
          </a:p>
        </p:txBody>
      </p:sp>
      <p:sp>
        <p:nvSpPr>
          <p:cNvPr id="14" name="Shape 11"/>
          <p:cNvSpPr/>
          <p:nvPr/>
        </p:nvSpPr>
        <p:spPr>
          <a:xfrm>
            <a:off x="3829050" y="1076920"/>
            <a:ext cx="4714875" cy="699334"/>
          </a:xfrm>
          <a:prstGeom prst="rect">
            <a:avLst/>
          </a:prstGeom>
          <a:solidFill>
            <a:srgbClr val="063131"/>
          </a:solidFill>
          <a:ln w="9144">
            <a:solidFill>
              <a:srgbClr val="004D40"/>
            </a:solidFill>
            <a:prstDash val="solid"/>
          </a:ln>
        </p:spPr>
        <p:txBody>
          <a:bodyPr/>
          <a:lstStyle/>
          <a:p>
            <a:endParaRPr lang="ja-JP" altLang="en-US"/>
          </a:p>
        </p:txBody>
      </p:sp>
      <p:sp>
        <p:nvSpPr>
          <p:cNvPr id="15" name="Text 12"/>
          <p:cNvSpPr/>
          <p:nvPr/>
        </p:nvSpPr>
        <p:spPr>
          <a:xfrm>
            <a:off x="4871982" y="1260258"/>
            <a:ext cx="139303"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h</a:t>
            </a:r>
            <a:endParaRPr lang="en-US" sz="1704" dirty="0"/>
          </a:p>
        </p:txBody>
      </p:sp>
      <p:sp>
        <p:nvSpPr>
          <p:cNvPr id="16" name="Text 13"/>
          <p:cNvSpPr/>
          <p:nvPr/>
        </p:nvSpPr>
        <p:spPr>
          <a:xfrm>
            <a:off x="5011285" y="1345257"/>
            <a:ext cx="71438" cy="242888"/>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FFFFF"/>
                </a:solidFill>
                <a:latin typeface="Space Grotesk" pitchFamily="34" charset="0"/>
                <a:ea typeface="Space Grotesk" pitchFamily="34" charset="-122"/>
                <a:cs typeface="Space Grotesk" pitchFamily="34" charset="-120"/>
              </a:rPr>
              <a:t>r</a:t>
            </a:r>
            <a:endParaRPr lang="en-US" sz="1414" dirty="0"/>
          </a:p>
        </p:txBody>
      </p:sp>
      <p:sp>
        <p:nvSpPr>
          <p:cNvPr id="17" name="Text 14"/>
          <p:cNvSpPr/>
          <p:nvPr/>
        </p:nvSpPr>
        <p:spPr>
          <a:xfrm>
            <a:off x="5082722" y="1260258"/>
            <a:ext cx="258961"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a:t>
            </a:r>
            <a:endParaRPr lang="en-US" sz="1704" dirty="0"/>
          </a:p>
        </p:txBody>
      </p:sp>
      <p:sp>
        <p:nvSpPr>
          <p:cNvPr id="18" name="Text 15"/>
          <p:cNvSpPr/>
          <p:nvPr/>
        </p:nvSpPr>
        <p:spPr>
          <a:xfrm>
            <a:off x="5341683" y="1260258"/>
            <a:ext cx="862608" cy="291108"/>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FFD700"/>
                </a:solidFill>
                <a:latin typeface="Space Grotesk" pitchFamily="34" charset="0"/>
                <a:ea typeface="Space Grotesk" pitchFamily="34" charset="-122"/>
                <a:cs typeface="Space Grotesk" pitchFamily="34" charset="-120"/>
              </a:rPr>
              <a:t>&amp;frac11;</a:t>
            </a:r>
            <a:endParaRPr lang="en-US" sz="1602" dirty="0"/>
          </a:p>
        </p:txBody>
      </p:sp>
      <p:sp>
        <p:nvSpPr>
          <p:cNvPr id="19" name="Text 16"/>
          <p:cNvSpPr/>
          <p:nvPr/>
        </p:nvSpPr>
        <p:spPr>
          <a:xfrm>
            <a:off x="6204291" y="1345257"/>
            <a:ext cx="114300" cy="242888"/>
          </a:xfrm>
          <a:prstGeom prst="rect">
            <a:avLst/>
          </a:prstGeom>
          <a:noFill/>
          <a:ln/>
        </p:spPr>
        <p:txBody>
          <a:bodyPr wrap="none" lIns="0" tIns="0" rIns="0" bIns="0" rtlCol="0" anchor="t">
            <a:spAutoFit/>
          </a:bodyPr>
          <a:lstStyle/>
          <a:p>
            <a:pPr marL="0" indent="0" algn="ctr">
              <a:lnSpc>
                <a:spcPts val="1800"/>
              </a:lnSpc>
              <a:buNone/>
            </a:pPr>
            <a:r>
              <a:rPr lang="en-US" sz="1414" dirty="0">
                <a:solidFill>
                  <a:srgbClr val="FFFFFF"/>
                </a:solidFill>
                <a:latin typeface="Space Grotesk" pitchFamily="34" charset="0"/>
                <a:ea typeface="Space Grotesk" pitchFamily="34" charset="-122"/>
                <a:cs typeface="Space Grotesk" pitchFamily="34" charset="-120"/>
              </a:rPr>
              <a:t>P</a:t>
            </a:r>
            <a:endParaRPr lang="en-US" sz="1414" dirty="0"/>
          </a:p>
        </p:txBody>
      </p:sp>
      <p:sp>
        <p:nvSpPr>
          <p:cNvPr id="20" name="Text 17"/>
          <p:cNvSpPr/>
          <p:nvPr/>
        </p:nvSpPr>
        <p:spPr>
          <a:xfrm>
            <a:off x="6318591" y="1417281"/>
            <a:ext cx="60722" cy="201811"/>
          </a:xfrm>
          <a:prstGeom prst="rect">
            <a:avLst/>
          </a:prstGeom>
          <a:noFill/>
          <a:ln/>
        </p:spPr>
        <p:txBody>
          <a:bodyPr wrap="none" lIns="0" tIns="0" rIns="0" bIns="0" rtlCol="0" anchor="t">
            <a:spAutoFit/>
          </a:bodyPr>
          <a:lstStyle/>
          <a:p>
            <a:pPr marL="0" indent="0" algn="ctr">
              <a:lnSpc>
                <a:spcPts val="1500"/>
              </a:lnSpc>
              <a:buNone/>
            </a:pPr>
            <a:r>
              <a:rPr lang="en-US" sz="1171" baseline="-40000" dirty="0">
                <a:solidFill>
                  <a:srgbClr val="FFFFFF"/>
                </a:solidFill>
                <a:latin typeface="Space Grotesk" pitchFamily="34" charset="0"/>
                <a:ea typeface="Space Grotesk" pitchFamily="34" charset="-122"/>
                <a:cs typeface="Space Grotesk" pitchFamily="34" charset="-120"/>
              </a:rPr>
              <a:t>r</a:t>
            </a:r>
            <a:endParaRPr lang="en-US" sz="1171" dirty="0"/>
          </a:p>
        </p:txBody>
      </p:sp>
      <p:sp>
        <p:nvSpPr>
          <p:cNvPr id="21" name="Text 18"/>
          <p:cNvSpPr/>
          <p:nvPr/>
        </p:nvSpPr>
        <p:spPr>
          <a:xfrm>
            <a:off x="6379313" y="1260258"/>
            <a:ext cx="221903"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a:t>
            </a:r>
            <a:endParaRPr lang="en-US" sz="1704" dirty="0"/>
          </a:p>
        </p:txBody>
      </p:sp>
      <p:sp>
        <p:nvSpPr>
          <p:cNvPr id="22" name="Text 19"/>
          <p:cNvSpPr/>
          <p:nvPr/>
        </p:nvSpPr>
        <p:spPr>
          <a:xfrm>
            <a:off x="6601216" y="1345257"/>
            <a:ext cx="321469" cy="242888"/>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FFFFF"/>
                </a:solidFill>
                <a:latin typeface="Space Grotesk" pitchFamily="34" charset="0"/>
                <a:ea typeface="Space Grotesk" pitchFamily="34" charset="-122"/>
                <a:cs typeface="Space Grotesk" pitchFamily="34" charset="-120"/>
              </a:rPr>
              <a:t>p=1</a:t>
            </a:r>
            <a:endParaRPr lang="en-US" sz="1414" dirty="0"/>
          </a:p>
        </p:txBody>
      </p:sp>
      <p:sp>
        <p:nvSpPr>
          <p:cNvPr id="23" name="Text 20"/>
          <p:cNvSpPr/>
          <p:nvPr/>
        </p:nvSpPr>
        <p:spPr>
          <a:xfrm>
            <a:off x="6922684" y="1219795"/>
            <a:ext cx="114300" cy="242888"/>
          </a:xfrm>
          <a:prstGeom prst="rect">
            <a:avLst/>
          </a:prstGeom>
          <a:noFill/>
          <a:ln/>
        </p:spPr>
        <p:txBody>
          <a:bodyPr wrap="none" lIns="0" tIns="0" rIns="0" bIns="0" rtlCol="0" anchor="t">
            <a:spAutoFit/>
          </a:bodyPr>
          <a:lstStyle/>
          <a:p>
            <a:pPr marL="0" indent="0" algn="ctr">
              <a:lnSpc>
                <a:spcPts val="1800"/>
              </a:lnSpc>
              <a:buNone/>
            </a:pPr>
            <a:r>
              <a:rPr lang="en-US" sz="1414" dirty="0">
                <a:solidFill>
                  <a:srgbClr val="FFFFFF"/>
                </a:solidFill>
                <a:latin typeface="Space Grotesk" pitchFamily="34" charset="0"/>
                <a:ea typeface="Space Grotesk" pitchFamily="34" charset="-122"/>
                <a:cs typeface="Space Grotesk" pitchFamily="34" charset="-120"/>
              </a:rPr>
              <a:t>P</a:t>
            </a:r>
            <a:endParaRPr lang="en-US" sz="1414" dirty="0"/>
          </a:p>
        </p:txBody>
      </p:sp>
      <p:sp>
        <p:nvSpPr>
          <p:cNvPr id="24" name="Text 21"/>
          <p:cNvSpPr/>
          <p:nvPr/>
        </p:nvSpPr>
        <p:spPr>
          <a:xfrm>
            <a:off x="7036984" y="1291819"/>
            <a:ext cx="60722" cy="201811"/>
          </a:xfrm>
          <a:prstGeom prst="rect">
            <a:avLst/>
          </a:prstGeom>
          <a:noFill/>
          <a:ln/>
        </p:spPr>
        <p:txBody>
          <a:bodyPr wrap="none" lIns="0" tIns="0" rIns="0" bIns="0" rtlCol="0" anchor="t">
            <a:spAutoFit/>
          </a:bodyPr>
          <a:lstStyle/>
          <a:p>
            <a:pPr marL="0" indent="0" algn="ctr">
              <a:lnSpc>
                <a:spcPts val="1500"/>
              </a:lnSpc>
              <a:buNone/>
            </a:pPr>
            <a:r>
              <a:rPr lang="en-US" sz="1171" baseline="-40000" dirty="0">
                <a:solidFill>
                  <a:srgbClr val="FFFFFF"/>
                </a:solidFill>
                <a:latin typeface="Space Grotesk" pitchFamily="34" charset="0"/>
                <a:ea typeface="Space Grotesk" pitchFamily="34" charset="-122"/>
                <a:cs typeface="Space Grotesk" pitchFamily="34" charset="-120"/>
              </a:rPr>
              <a:t>r</a:t>
            </a:r>
            <a:endParaRPr lang="en-US" sz="1171" dirty="0"/>
          </a:p>
        </p:txBody>
      </p:sp>
      <p:sp>
        <p:nvSpPr>
          <p:cNvPr id="25" name="Text 22"/>
          <p:cNvSpPr/>
          <p:nvPr/>
        </p:nvSpPr>
        <p:spPr>
          <a:xfrm>
            <a:off x="7097706" y="1260258"/>
            <a:ext cx="178594"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z</a:t>
            </a:r>
            <a:endParaRPr lang="en-US" sz="1704" dirty="0"/>
          </a:p>
        </p:txBody>
      </p:sp>
      <p:sp>
        <p:nvSpPr>
          <p:cNvPr id="26" name="Text 23"/>
          <p:cNvSpPr/>
          <p:nvPr/>
        </p:nvSpPr>
        <p:spPr>
          <a:xfrm>
            <a:off x="7276300" y="1345257"/>
            <a:ext cx="230386" cy="242888"/>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FFFFF"/>
                </a:solidFill>
                <a:latin typeface="Space Grotesk" pitchFamily="34" charset="0"/>
                <a:ea typeface="Space Grotesk" pitchFamily="34" charset="-122"/>
                <a:cs typeface="Space Grotesk" pitchFamily="34" charset="-120"/>
              </a:rPr>
              <a:t>r,p</a:t>
            </a:r>
            <a:endParaRPr lang="en-US" sz="1414" dirty="0"/>
          </a:p>
        </p:txBody>
      </p:sp>
      <p:sp>
        <p:nvSpPr>
          <p:cNvPr id="27" name="Shape 24"/>
          <p:cNvSpPr/>
          <p:nvPr/>
        </p:nvSpPr>
        <p:spPr>
          <a:xfrm>
            <a:off x="428625" y="2076292"/>
            <a:ext cx="8286750" cy="970824"/>
          </a:xfrm>
          <a:prstGeom prst="rect">
            <a:avLst/>
          </a:prstGeom>
          <a:solidFill>
            <a:srgbClr val="004D40"/>
          </a:solidFill>
          <a:ln/>
        </p:spPr>
        <p:txBody>
          <a:bodyPr/>
          <a:lstStyle/>
          <a:p>
            <a:endParaRPr lang="ja-JP" altLang="en-US"/>
          </a:p>
        </p:txBody>
      </p:sp>
      <p:sp>
        <p:nvSpPr>
          <p:cNvPr id="28" name="Shape 25"/>
          <p:cNvSpPr/>
          <p:nvPr/>
        </p:nvSpPr>
        <p:spPr>
          <a:xfrm>
            <a:off x="428625" y="2076292"/>
            <a:ext cx="35719" cy="970824"/>
          </a:xfrm>
          <a:prstGeom prst="rect">
            <a:avLst/>
          </a:prstGeom>
          <a:solidFill>
            <a:srgbClr val="FFD700"/>
          </a:solidFill>
          <a:ln/>
        </p:spPr>
        <p:txBody>
          <a:bodyPr/>
          <a:lstStyle/>
          <a:p>
            <a:endParaRPr lang="ja-JP" altLang="en-US"/>
          </a:p>
        </p:txBody>
      </p:sp>
      <p:sp>
        <p:nvSpPr>
          <p:cNvPr id="29" name="Text 26"/>
          <p:cNvSpPr/>
          <p:nvPr/>
        </p:nvSpPr>
        <p:spPr>
          <a:xfrm>
            <a:off x="600075" y="2266857"/>
            <a:ext cx="2943225" cy="212527"/>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FFD700"/>
                </a:solidFill>
                <a:latin typeface="Space Grotesk" pitchFamily="34" charset="0"/>
                <a:ea typeface="Space Grotesk" pitchFamily="34" charset="-122"/>
                <a:cs typeface="Space Grotesk" pitchFamily="34" charset="-120"/>
              </a:rPr>
              <a:t>2. GLOBAL隣接行列 (SIMILARITY)</a:t>
            </a:r>
            <a:endParaRPr lang="en-US" sz="1159" dirty="0"/>
          </a:p>
        </p:txBody>
      </p:sp>
      <p:sp>
        <p:nvSpPr>
          <p:cNvPr id="30" name="Text 27"/>
          <p:cNvSpPr/>
          <p:nvPr/>
        </p:nvSpPr>
        <p:spPr>
          <a:xfrm>
            <a:off x="600075" y="2536534"/>
            <a:ext cx="2943225"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B2DFDB"/>
                </a:solidFill>
                <a:latin typeface="Inter" pitchFamily="34" charset="0"/>
                <a:ea typeface="Inter" pitchFamily="34" charset="-122"/>
                <a:cs typeface="Inter" pitchFamily="34" charset="-120"/>
              </a:rPr>
              <a:t>集約された領域 </a:t>
            </a:r>
            <a:r>
              <a:rPr lang="en-US" sz="784" b="1" dirty="0">
                <a:solidFill>
                  <a:srgbClr val="FFD700"/>
                </a:solidFill>
                <a:latin typeface="Inter" pitchFamily="34" charset="0"/>
                <a:ea typeface="Inter" pitchFamily="34" charset="-122"/>
                <a:cs typeface="Inter" pitchFamily="34" charset="-120"/>
              </a:rPr>
              <a:t>i</a:t>
            </a:r>
            <a:r>
              <a:rPr lang="en-US" sz="834" dirty="0">
                <a:solidFill>
                  <a:srgbClr val="B2DFDB"/>
                </a:solidFill>
                <a:latin typeface="Inter" pitchFamily="34" charset="0"/>
                <a:ea typeface="Inter" pitchFamily="34" charset="-122"/>
                <a:cs typeface="Inter" pitchFamily="34" charset="-120"/>
              </a:rPr>
              <a:t> と </a:t>
            </a:r>
            <a:r>
              <a:rPr lang="en-US" sz="784" b="1" dirty="0">
                <a:solidFill>
                  <a:srgbClr val="FFD700"/>
                </a:solidFill>
                <a:latin typeface="Inter" pitchFamily="34" charset="0"/>
                <a:ea typeface="Inter" pitchFamily="34" charset="-122"/>
                <a:cs typeface="Inter" pitchFamily="34" charset="-120"/>
              </a:rPr>
              <a:t>j</a:t>
            </a:r>
            <a:r>
              <a:rPr lang="en-US" sz="834" dirty="0">
                <a:solidFill>
                  <a:srgbClr val="B2DFDB"/>
                </a:solidFill>
                <a:latin typeface="Inter" pitchFamily="34" charset="0"/>
                <a:ea typeface="Inter" pitchFamily="34" charset="-122"/>
                <a:cs typeface="Inter" pitchFamily="34" charset="-120"/>
              </a:rPr>
              <a:t> の類似度（ドット積）を計算し、動的なグラフを構築します。</a:t>
            </a:r>
            <a:endParaRPr lang="en-US" sz="834" dirty="0"/>
          </a:p>
        </p:txBody>
      </p:sp>
      <p:sp>
        <p:nvSpPr>
          <p:cNvPr id="31" name="Shape 28"/>
          <p:cNvSpPr/>
          <p:nvPr/>
        </p:nvSpPr>
        <p:spPr>
          <a:xfrm>
            <a:off x="3829050" y="2247742"/>
            <a:ext cx="4714875" cy="627924"/>
          </a:xfrm>
          <a:prstGeom prst="rect">
            <a:avLst/>
          </a:prstGeom>
          <a:solidFill>
            <a:srgbClr val="063131"/>
          </a:solidFill>
          <a:ln w="9144">
            <a:solidFill>
              <a:srgbClr val="004D40"/>
            </a:solidFill>
            <a:prstDash val="solid"/>
          </a:ln>
        </p:spPr>
        <p:txBody>
          <a:bodyPr/>
          <a:lstStyle/>
          <a:p>
            <a:endParaRPr lang="ja-JP" altLang="en-US"/>
          </a:p>
        </p:txBody>
      </p:sp>
      <p:sp>
        <p:nvSpPr>
          <p:cNvPr id="32" name="Text 29"/>
          <p:cNvSpPr/>
          <p:nvPr/>
        </p:nvSpPr>
        <p:spPr>
          <a:xfrm>
            <a:off x="5649981" y="2390617"/>
            <a:ext cx="144661"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A</a:t>
            </a:r>
            <a:endParaRPr lang="en-US" sz="1704" dirty="0"/>
          </a:p>
        </p:txBody>
      </p:sp>
      <p:sp>
        <p:nvSpPr>
          <p:cNvPr id="33" name="Text 30"/>
          <p:cNvSpPr/>
          <p:nvPr/>
        </p:nvSpPr>
        <p:spPr>
          <a:xfrm>
            <a:off x="5794642" y="2475616"/>
            <a:ext cx="142875" cy="242888"/>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FFFFF"/>
                </a:solidFill>
                <a:latin typeface="Space Grotesk" pitchFamily="34" charset="0"/>
                <a:ea typeface="Space Grotesk" pitchFamily="34" charset="-122"/>
                <a:cs typeface="Space Grotesk" pitchFamily="34" charset="-120"/>
              </a:rPr>
              <a:t>i,j</a:t>
            </a:r>
            <a:endParaRPr lang="en-US" sz="1414" dirty="0"/>
          </a:p>
        </p:txBody>
      </p:sp>
      <p:sp>
        <p:nvSpPr>
          <p:cNvPr id="34" name="Text 31"/>
          <p:cNvSpPr/>
          <p:nvPr/>
        </p:nvSpPr>
        <p:spPr>
          <a:xfrm>
            <a:off x="5937517" y="2390617"/>
            <a:ext cx="398264"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 h</a:t>
            </a:r>
            <a:endParaRPr lang="en-US" sz="1704" dirty="0"/>
          </a:p>
        </p:txBody>
      </p:sp>
      <p:sp>
        <p:nvSpPr>
          <p:cNvPr id="35" name="Text 32"/>
          <p:cNvSpPr/>
          <p:nvPr/>
        </p:nvSpPr>
        <p:spPr>
          <a:xfrm>
            <a:off x="6335781" y="2475616"/>
            <a:ext cx="46434" cy="242888"/>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FFFFF"/>
                </a:solidFill>
                <a:latin typeface="Space Grotesk" pitchFamily="34" charset="0"/>
                <a:ea typeface="Space Grotesk" pitchFamily="34" charset="-122"/>
                <a:cs typeface="Space Grotesk" pitchFamily="34" charset="-120"/>
              </a:rPr>
              <a:t>i</a:t>
            </a:r>
            <a:endParaRPr lang="en-US" sz="1414" dirty="0"/>
          </a:p>
        </p:txBody>
      </p:sp>
      <p:sp>
        <p:nvSpPr>
          <p:cNvPr id="36" name="Text 33"/>
          <p:cNvSpPr/>
          <p:nvPr/>
        </p:nvSpPr>
        <p:spPr>
          <a:xfrm>
            <a:off x="6382215" y="2390617"/>
            <a:ext cx="300038"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 h</a:t>
            </a:r>
            <a:endParaRPr lang="en-US" sz="1704" dirty="0"/>
          </a:p>
        </p:txBody>
      </p:sp>
      <p:sp>
        <p:nvSpPr>
          <p:cNvPr id="37" name="Text 34"/>
          <p:cNvSpPr/>
          <p:nvPr/>
        </p:nvSpPr>
        <p:spPr>
          <a:xfrm>
            <a:off x="6682253" y="2475616"/>
            <a:ext cx="46434" cy="242888"/>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FFFFF"/>
                </a:solidFill>
                <a:latin typeface="Space Grotesk" pitchFamily="34" charset="0"/>
                <a:ea typeface="Space Grotesk" pitchFamily="34" charset="-122"/>
                <a:cs typeface="Space Grotesk" pitchFamily="34" charset="-120"/>
              </a:rPr>
              <a:t>j</a:t>
            </a:r>
            <a:endParaRPr lang="en-US" sz="1414" dirty="0"/>
          </a:p>
        </p:txBody>
      </p:sp>
      <p:sp>
        <p:nvSpPr>
          <p:cNvPr id="38" name="Shape 35"/>
          <p:cNvSpPr/>
          <p:nvPr/>
        </p:nvSpPr>
        <p:spPr>
          <a:xfrm>
            <a:off x="428625" y="3175704"/>
            <a:ext cx="8286750" cy="970824"/>
          </a:xfrm>
          <a:prstGeom prst="rect">
            <a:avLst/>
          </a:prstGeom>
          <a:solidFill>
            <a:srgbClr val="004D40"/>
          </a:solidFill>
          <a:ln/>
        </p:spPr>
        <p:txBody>
          <a:bodyPr/>
          <a:lstStyle/>
          <a:p>
            <a:endParaRPr lang="ja-JP" altLang="en-US"/>
          </a:p>
        </p:txBody>
      </p:sp>
      <p:sp>
        <p:nvSpPr>
          <p:cNvPr id="39" name="Shape 36"/>
          <p:cNvSpPr/>
          <p:nvPr/>
        </p:nvSpPr>
        <p:spPr>
          <a:xfrm>
            <a:off x="428625" y="3175704"/>
            <a:ext cx="35719" cy="970824"/>
          </a:xfrm>
          <a:prstGeom prst="rect">
            <a:avLst/>
          </a:prstGeom>
          <a:solidFill>
            <a:srgbClr val="FFD700"/>
          </a:solidFill>
          <a:ln/>
        </p:spPr>
        <p:txBody>
          <a:bodyPr/>
          <a:lstStyle/>
          <a:p>
            <a:endParaRPr lang="ja-JP" altLang="en-US"/>
          </a:p>
        </p:txBody>
      </p:sp>
      <p:sp>
        <p:nvSpPr>
          <p:cNvPr id="40" name="Text 37"/>
          <p:cNvSpPr/>
          <p:nvPr/>
        </p:nvSpPr>
        <p:spPr>
          <a:xfrm>
            <a:off x="600075" y="3366269"/>
            <a:ext cx="2943225" cy="212527"/>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FFD700"/>
                </a:solidFill>
                <a:latin typeface="Space Grotesk" pitchFamily="34" charset="0"/>
                <a:ea typeface="Space Grotesk" pitchFamily="34" charset="-122"/>
                <a:cs typeface="Space Grotesk" pitchFamily="34" charset="-120"/>
              </a:rPr>
              <a:t>3. グラフ畳み込み (GCN)</a:t>
            </a:r>
            <a:endParaRPr lang="en-US" sz="1159" dirty="0"/>
          </a:p>
        </p:txBody>
      </p:sp>
      <p:sp>
        <p:nvSpPr>
          <p:cNvPr id="41" name="Text 38"/>
          <p:cNvSpPr/>
          <p:nvPr/>
        </p:nvSpPr>
        <p:spPr>
          <a:xfrm>
            <a:off x="600075" y="3635946"/>
            <a:ext cx="2943225"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B2DFDB"/>
                </a:solidFill>
                <a:latin typeface="Inter" pitchFamily="34" charset="0"/>
                <a:ea typeface="Inter" pitchFamily="34" charset="-122"/>
                <a:cs typeface="Inter" pitchFamily="34" charset="-120"/>
              </a:rPr>
              <a:t>構築した隣接行列 </a:t>
            </a:r>
            <a:r>
              <a:rPr lang="en-US" sz="784" b="1" dirty="0">
                <a:solidFill>
                  <a:srgbClr val="FFD700"/>
                </a:solidFill>
                <a:latin typeface="Inter" pitchFamily="34" charset="0"/>
                <a:ea typeface="Inter" pitchFamily="34" charset="-122"/>
                <a:cs typeface="Inter" pitchFamily="34" charset="-120"/>
              </a:rPr>
              <a:t>A</a:t>
            </a:r>
            <a:r>
              <a:rPr lang="en-US" sz="834" dirty="0">
                <a:solidFill>
                  <a:srgbClr val="B2DFDB"/>
                </a:solidFill>
                <a:latin typeface="Inter" pitchFamily="34" charset="0"/>
                <a:ea typeface="Inter" pitchFamily="34" charset="-122"/>
                <a:cs typeface="Inter" pitchFamily="34" charset="-120"/>
              </a:rPr>
              <a:t> と学習可能なマスク </a:t>
            </a:r>
            <a:r>
              <a:rPr lang="en-US" sz="784" b="1" dirty="0">
                <a:solidFill>
                  <a:srgbClr val="FFD700"/>
                </a:solidFill>
                <a:latin typeface="Inter" pitchFamily="34" charset="0"/>
                <a:ea typeface="Inter" pitchFamily="34" charset="-122"/>
                <a:cs typeface="Inter" pitchFamily="34" charset="-120"/>
              </a:rPr>
              <a:t>M</a:t>
            </a:r>
            <a:r>
              <a:rPr lang="en-US" sz="834" dirty="0">
                <a:solidFill>
                  <a:srgbClr val="B2DFDB"/>
                </a:solidFill>
                <a:latin typeface="Inter" pitchFamily="34" charset="0"/>
                <a:ea typeface="Inter" pitchFamily="34" charset="-122"/>
                <a:cs typeface="Inter" pitchFamily="34" charset="-120"/>
              </a:rPr>
              <a:t> を用いて、領域間の連携を学習します。</a:t>
            </a:r>
            <a:endParaRPr lang="en-US" sz="834" dirty="0"/>
          </a:p>
        </p:txBody>
      </p:sp>
      <p:sp>
        <p:nvSpPr>
          <p:cNvPr id="42" name="Shape 39"/>
          <p:cNvSpPr/>
          <p:nvPr/>
        </p:nvSpPr>
        <p:spPr>
          <a:xfrm>
            <a:off x="3829050" y="3347154"/>
            <a:ext cx="4714875" cy="627924"/>
          </a:xfrm>
          <a:prstGeom prst="rect">
            <a:avLst/>
          </a:prstGeom>
          <a:solidFill>
            <a:srgbClr val="063131"/>
          </a:solidFill>
          <a:ln w="9144">
            <a:solidFill>
              <a:srgbClr val="004D40"/>
            </a:solidFill>
            <a:prstDash val="solid"/>
          </a:ln>
        </p:spPr>
        <p:txBody>
          <a:bodyPr/>
          <a:lstStyle/>
          <a:p>
            <a:endParaRPr lang="ja-JP" altLang="en-US"/>
          </a:p>
        </p:txBody>
      </p:sp>
      <p:sp>
        <p:nvSpPr>
          <p:cNvPr id="43" name="Text 40"/>
          <p:cNvSpPr/>
          <p:nvPr/>
        </p:nvSpPr>
        <p:spPr>
          <a:xfrm>
            <a:off x="4756119" y="3490029"/>
            <a:ext cx="132159"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Z</a:t>
            </a:r>
            <a:endParaRPr lang="en-US" sz="1704" dirty="0"/>
          </a:p>
        </p:txBody>
      </p:sp>
      <p:sp>
        <p:nvSpPr>
          <p:cNvPr id="44" name="Text 41"/>
          <p:cNvSpPr/>
          <p:nvPr/>
        </p:nvSpPr>
        <p:spPr>
          <a:xfrm>
            <a:off x="4888278" y="3575028"/>
            <a:ext cx="564356" cy="242888"/>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FFFFF"/>
                </a:solidFill>
                <a:latin typeface="Space Grotesk" pitchFamily="34" charset="0"/>
                <a:ea typeface="Space Grotesk" pitchFamily="34" charset="-122"/>
                <a:cs typeface="Space Grotesk" pitchFamily="34" charset="-120"/>
              </a:rPr>
              <a:t>global</a:t>
            </a:r>
            <a:endParaRPr lang="en-US" sz="1414" dirty="0"/>
          </a:p>
        </p:txBody>
      </p:sp>
      <p:sp>
        <p:nvSpPr>
          <p:cNvPr id="45" name="Text 42"/>
          <p:cNvSpPr/>
          <p:nvPr/>
        </p:nvSpPr>
        <p:spPr>
          <a:xfrm>
            <a:off x="5452635" y="3490029"/>
            <a:ext cx="258961"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a:t>
            </a:r>
            <a:endParaRPr lang="en-US" sz="1704" dirty="0"/>
          </a:p>
        </p:txBody>
      </p:sp>
      <p:sp>
        <p:nvSpPr>
          <p:cNvPr id="46" name="Text 43"/>
          <p:cNvSpPr/>
          <p:nvPr/>
        </p:nvSpPr>
        <p:spPr>
          <a:xfrm>
            <a:off x="5711596" y="3490029"/>
            <a:ext cx="451842" cy="291108"/>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FF8F00"/>
                </a:solidFill>
                <a:latin typeface="Space Grotesk" pitchFamily="34" charset="0"/>
                <a:ea typeface="Space Grotesk" pitchFamily="34" charset="-122"/>
                <a:cs typeface="Space Grotesk" pitchFamily="34" charset="-120"/>
              </a:rPr>
              <a:t>GCN</a:t>
            </a:r>
            <a:endParaRPr lang="en-US" sz="1602" dirty="0"/>
          </a:p>
        </p:txBody>
      </p:sp>
      <p:sp>
        <p:nvSpPr>
          <p:cNvPr id="47" name="Text 44"/>
          <p:cNvSpPr/>
          <p:nvPr/>
        </p:nvSpPr>
        <p:spPr>
          <a:xfrm>
            <a:off x="6163438" y="3490029"/>
            <a:ext cx="226814"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(h</a:t>
            </a:r>
            <a:endParaRPr lang="en-US" sz="1704" dirty="0"/>
          </a:p>
        </p:txBody>
      </p:sp>
      <p:sp>
        <p:nvSpPr>
          <p:cNvPr id="48" name="Text 45"/>
          <p:cNvSpPr/>
          <p:nvPr/>
        </p:nvSpPr>
        <p:spPr>
          <a:xfrm>
            <a:off x="6390252" y="3575028"/>
            <a:ext cx="433983" cy="242888"/>
          </a:xfrm>
          <a:prstGeom prst="rect">
            <a:avLst/>
          </a:prstGeom>
          <a:noFill/>
          <a:ln/>
        </p:spPr>
        <p:txBody>
          <a:bodyPr wrap="none" lIns="0" tIns="0" rIns="0" bIns="0" rtlCol="0" anchor="t">
            <a:spAutoFit/>
          </a:bodyPr>
          <a:lstStyle/>
          <a:p>
            <a:pPr marL="0" indent="0" algn="ctr">
              <a:lnSpc>
                <a:spcPts val="1800"/>
              </a:lnSpc>
              <a:buNone/>
            </a:pPr>
            <a:r>
              <a:rPr lang="en-US" sz="1414" baseline="-40000" dirty="0">
                <a:solidFill>
                  <a:srgbClr val="FFFFFF"/>
                </a:solidFill>
                <a:latin typeface="Space Grotesk" pitchFamily="34" charset="0"/>
                <a:ea typeface="Space Grotesk" pitchFamily="34" charset="-122"/>
                <a:cs typeface="Space Grotesk" pitchFamily="34" charset="-120"/>
              </a:rPr>
              <a:t>local</a:t>
            </a:r>
            <a:endParaRPr lang="en-US" sz="1414" dirty="0"/>
          </a:p>
        </p:txBody>
      </p:sp>
      <p:sp>
        <p:nvSpPr>
          <p:cNvPr id="49" name="Text 46"/>
          <p:cNvSpPr/>
          <p:nvPr/>
        </p:nvSpPr>
        <p:spPr>
          <a:xfrm>
            <a:off x="6824235" y="3490029"/>
            <a:ext cx="108942"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a:t>
            </a:r>
            <a:endParaRPr lang="en-US" sz="1704" dirty="0"/>
          </a:p>
        </p:txBody>
      </p:sp>
      <p:sp>
        <p:nvSpPr>
          <p:cNvPr id="50" name="Text 47"/>
          <p:cNvSpPr/>
          <p:nvPr/>
        </p:nvSpPr>
        <p:spPr>
          <a:xfrm>
            <a:off x="6933177" y="3490029"/>
            <a:ext cx="603647" cy="291108"/>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FFD700"/>
                </a:solidFill>
                <a:latin typeface="Space Grotesk" pitchFamily="34" charset="0"/>
                <a:ea typeface="Space Grotesk" pitchFamily="34" charset="-122"/>
                <a:cs typeface="Space Grotesk" pitchFamily="34" charset="-120"/>
              </a:rPr>
              <a:t>A ∘ M</a:t>
            </a:r>
            <a:endParaRPr lang="en-US" sz="1602" dirty="0"/>
          </a:p>
        </p:txBody>
      </p:sp>
      <p:sp>
        <p:nvSpPr>
          <p:cNvPr id="51" name="Text 48"/>
          <p:cNvSpPr/>
          <p:nvPr/>
        </p:nvSpPr>
        <p:spPr>
          <a:xfrm>
            <a:off x="7536824" y="3490029"/>
            <a:ext cx="85725" cy="291108"/>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FFFFFF"/>
                </a:solidFill>
                <a:latin typeface="Space Grotesk" pitchFamily="34" charset="0"/>
                <a:ea typeface="Space Grotesk" pitchFamily="34" charset="-122"/>
                <a:cs typeface="Space Grotesk" pitchFamily="34" charset="-120"/>
              </a:rPr>
              <a:t>)</a:t>
            </a:r>
            <a:endParaRPr lang="en-US" sz="1704" dirty="0"/>
          </a:p>
        </p:txBody>
      </p:sp>
      <p:pic>
        <p:nvPicPr>
          <p:cNvPr id="52" name="Image 1" descr="preencoded.png"/>
          <p:cNvPicPr>
            <a:picLocks noChangeAspect="1"/>
          </p:cNvPicPr>
          <p:nvPr/>
        </p:nvPicPr>
        <p:blipFill>
          <a:blip r:embed="rId4"/>
          <a:stretch>
            <a:fillRect/>
          </a:stretch>
        </p:blipFill>
        <p:spPr>
          <a:xfrm>
            <a:off x="428625" y="4362627"/>
            <a:ext cx="128588" cy="128588"/>
          </a:xfrm>
          <a:prstGeom prst="rect">
            <a:avLst/>
          </a:prstGeom>
        </p:spPr>
      </p:pic>
      <p:sp>
        <p:nvSpPr>
          <p:cNvPr id="53" name="Text 49"/>
          <p:cNvSpPr/>
          <p:nvPr/>
        </p:nvSpPr>
        <p:spPr>
          <a:xfrm>
            <a:off x="628650" y="4350125"/>
            <a:ext cx="7729538" cy="155377"/>
          </a:xfrm>
          <a:prstGeom prst="rect">
            <a:avLst/>
          </a:prstGeom>
          <a:noFill/>
          <a:ln/>
        </p:spPr>
        <p:txBody>
          <a:bodyPr wrap="none" lIns="0" tIns="0" rIns="0" bIns="0" rtlCol="0" anchor="t">
            <a:spAutoFit/>
          </a:bodyPr>
          <a:lstStyle/>
          <a:p>
            <a:pPr marL="0" indent="0" algn="l">
              <a:lnSpc>
                <a:spcPts val="1200"/>
              </a:lnSpc>
              <a:buNone/>
            </a:pPr>
            <a:r>
              <a:rPr lang="en-US" sz="942" i="1" dirty="0">
                <a:solidFill>
                  <a:srgbClr val="B2DFDB"/>
                </a:solidFill>
                <a:latin typeface="Inter" pitchFamily="34" charset="0"/>
                <a:ea typeface="Inter" pitchFamily="34" charset="-122"/>
                <a:cs typeface="Inter" pitchFamily="34" charset="-120"/>
              </a:rPr>
              <a:t>このプロセスにより、脳の「局所的な活動」が「広域的なネットワーク」へと統合され、高度な認知状態の識別が可能になります。</a:t>
            </a:r>
            <a:endParaRPr lang="en-US" sz="94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405408"/>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FFD700"/>
                </a:solidFill>
                <a:latin typeface="Space Grotesk" pitchFamily="34" charset="0"/>
                <a:ea typeface="Space Grotesk" pitchFamily="34" charset="-122"/>
                <a:cs typeface="Space Grotesk" pitchFamily="34" charset="-120"/>
              </a:rPr>
              <a:t>コードで理解する - ネットワークの定義</a:t>
            </a:r>
            <a:endParaRPr lang="en-US" sz="2121" dirty="0"/>
          </a:p>
        </p:txBody>
      </p:sp>
      <p:sp>
        <p:nvSpPr>
          <p:cNvPr id="4" name="Shape 1"/>
          <p:cNvSpPr/>
          <p:nvPr/>
        </p:nvSpPr>
        <p:spPr>
          <a:xfrm>
            <a:off x="428625" y="905470"/>
            <a:ext cx="4843463" cy="2647373"/>
          </a:xfrm>
          <a:prstGeom prst="rect">
            <a:avLst/>
          </a:prstGeom>
          <a:solidFill>
            <a:srgbClr val="063131"/>
          </a:solidFill>
          <a:ln w="9144">
            <a:solidFill>
              <a:srgbClr val="004D40"/>
            </a:solidFill>
            <a:prstDash val="solid"/>
          </a:ln>
        </p:spPr>
        <p:txBody>
          <a:bodyPr/>
          <a:lstStyle/>
          <a:p>
            <a:endParaRPr lang="ja-JP" altLang="en-US"/>
          </a:p>
        </p:txBody>
      </p:sp>
      <p:sp>
        <p:nvSpPr>
          <p:cNvPr id="5" name="Text 2"/>
          <p:cNvSpPr/>
          <p:nvPr/>
        </p:nvSpPr>
        <p:spPr>
          <a:xfrm>
            <a:off x="428625" y="905470"/>
            <a:ext cx="4843463" cy="2647373"/>
          </a:xfrm>
          <a:prstGeom prst="rect">
            <a:avLst/>
          </a:prstGeom>
          <a:noFill/>
          <a:ln/>
        </p:spPr>
        <p:txBody>
          <a:bodyPr wrap="square" lIns="255143" tIns="255143" rIns="255143" bIns="255143" rtlCol="0" anchor="t">
            <a:spAutoFit/>
          </a:bodyPr>
          <a:lstStyle/>
          <a:p>
            <a:pPr marL="0" indent="0" algn="l">
              <a:lnSpc>
                <a:spcPts val="1400"/>
              </a:lnSpc>
              <a:buNone/>
            </a:pPr>
            <a:r>
              <a:rPr lang="en-US" sz="834" dirty="0">
                <a:solidFill>
                  <a:srgbClr val="FFD700"/>
                </a:solidFill>
                <a:latin typeface="Fira Code" pitchFamily="34" charset="0"/>
                <a:ea typeface="Fira Code" pitchFamily="34" charset="-122"/>
                <a:cs typeface="Fira Code" pitchFamily="34" charset="-120"/>
              </a:rPr>
              <a:t>class</a:t>
            </a:r>
            <a:r>
              <a:rPr lang="en-US" sz="834" dirty="0">
                <a:solidFill>
                  <a:srgbClr val="E0F2F1"/>
                </a:solidFill>
                <a:latin typeface="Fira Code" pitchFamily="34" charset="0"/>
                <a:ea typeface="Fira Code" pitchFamily="34" charset="-122"/>
                <a:cs typeface="Fira Code" pitchFamily="34" charset="-120"/>
              </a:rPr>
              <a:t> </a:t>
            </a:r>
            <a:r>
              <a:rPr lang="en-US" sz="834" dirty="0">
                <a:solidFill>
                  <a:srgbClr val="FF8F00"/>
                </a:solidFill>
                <a:latin typeface="Fira Code" pitchFamily="34" charset="0"/>
                <a:ea typeface="Fira Code" pitchFamily="34" charset="-122"/>
                <a:cs typeface="Fira Code" pitchFamily="34" charset="-120"/>
              </a:rPr>
              <a:t>LGGNet</a:t>
            </a:r>
            <a:r>
              <a:rPr lang="en-US" sz="834" dirty="0">
                <a:solidFill>
                  <a:srgbClr val="E0F2F1"/>
                </a:solidFill>
                <a:latin typeface="Fira Code" pitchFamily="34" charset="0"/>
                <a:ea typeface="Fira Code" pitchFamily="34" charset="-122"/>
                <a:cs typeface="Fira Code" pitchFamily="34" charset="-120"/>
              </a:rPr>
              <a:t>(nn.Module): </a:t>
            </a:r>
            <a:r>
              <a:rPr lang="en-US" sz="834" dirty="0">
                <a:solidFill>
                  <a:srgbClr val="FFD700"/>
                </a:solidFill>
                <a:latin typeface="Fira Code" pitchFamily="34" charset="0"/>
                <a:ea typeface="Fira Code" pitchFamily="34" charset="-122"/>
                <a:cs typeface="Fira Code" pitchFamily="34" charset="-120"/>
              </a:rPr>
              <a:t>def</a:t>
            </a:r>
            <a:r>
              <a:rPr lang="en-US" sz="834" dirty="0">
                <a:solidFill>
                  <a:srgbClr val="E0F2F1"/>
                </a:solidFill>
                <a:latin typeface="Fira Code" pitchFamily="34" charset="0"/>
                <a:ea typeface="Fira Code" pitchFamily="34" charset="-122"/>
                <a:cs typeface="Fira Code" pitchFamily="34" charset="-120"/>
              </a:rPr>
              <a:t> </a:t>
            </a:r>
            <a:r>
              <a:rPr lang="en-US" sz="834" dirty="0">
                <a:solidFill>
                  <a:srgbClr val="B2DFDB"/>
                </a:solidFill>
                <a:latin typeface="Fira Code" pitchFamily="34" charset="0"/>
                <a:ea typeface="Fira Code" pitchFamily="34" charset="-122"/>
                <a:cs typeface="Fira Code" pitchFamily="34" charset="-120"/>
              </a:rPr>
              <a:t>__init__</a:t>
            </a:r>
            <a:r>
              <a:rPr lang="en-US" sz="834" dirty="0">
                <a:solidFill>
                  <a:srgbClr val="E0F2F1"/>
                </a:solidFill>
                <a:latin typeface="Fira Code" pitchFamily="34" charset="0"/>
                <a:ea typeface="Fira Code" pitchFamily="34" charset="-122"/>
                <a:cs typeface="Fira Code" pitchFamily="34" charset="-120"/>
              </a:rPr>
              <a:t>(self, num_regions): </a:t>
            </a:r>
            <a:r>
              <a:rPr lang="en-US" sz="834" dirty="0">
                <a:solidFill>
                  <a:srgbClr val="FFD700"/>
                </a:solidFill>
                <a:latin typeface="Fira Code" pitchFamily="34" charset="0"/>
                <a:ea typeface="Fira Code" pitchFamily="34" charset="-122"/>
                <a:cs typeface="Fira Code" pitchFamily="34" charset="-120"/>
              </a:rPr>
              <a:t>super</a:t>
            </a:r>
            <a:r>
              <a:rPr lang="en-US" sz="834" dirty="0">
                <a:solidFill>
                  <a:srgbClr val="E0F2F1"/>
                </a:solidFill>
                <a:latin typeface="Fira Code" pitchFamily="34" charset="0"/>
                <a:ea typeface="Fira Code" pitchFamily="34" charset="-122"/>
                <a:cs typeface="Fira Code" pitchFamily="34" charset="-120"/>
              </a:rPr>
              <a:t>().__init__() </a:t>
            </a:r>
            <a:r>
              <a:rPr lang="en-US" sz="834" i="1" dirty="0">
                <a:solidFill>
                  <a:srgbClr val="00897B"/>
                </a:solidFill>
                <a:latin typeface="Fira Code" pitchFamily="34" charset="0"/>
                <a:ea typeface="Fira Code" pitchFamily="34" charset="-122"/>
                <a:cs typeface="Fira Code" pitchFamily="34" charset="-120"/>
              </a:rPr>
              <a:t># 1. 時間特徴の抽出 (Temporal Block)</a:t>
            </a:r>
            <a:r>
              <a:rPr lang="en-US" sz="834" dirty="0">
                <a:solidFill>
                  <a:srgbClr val="E0F2F1"/>
                </a:solidFill>
                <a:latin typeface="Fira Code" pitchFamily="34" charset="0"/>
                <a:ea typeface="Fira Code" pitchFamily="34" charset="-122"/>
                <a:cs typeface="Fira Code" pitchFamily="34" charset="-120"/>
              </a:rPr>
              <a:t> self.temp_block = MultiScaleTemporalBlock() </a:t>
            </a:r>
            <a:r>
              <a:rPr lang="en-US" sz="834" i="1" dirty="0">
                <a:solidFill>
                  <a:srgbClr val="00897B"/>
                </a:solidFill>
                <a:latin typeface="Fira Code" pitchFamily="34" charset="0"/>
                <a:ea typeface="Fira Code" pitchFamily="34" charset="-122"/>
                <a:cs typeface="Fira Code" pitchFamily="34" charset="-120"/>
              </a:rPr>
              <a:t># 2. 領域間のつながりを決めるマスク (M)</a:t>
            </a:r>
            <a:r>
              <a:rPr lang="en-US" sz="834" dirty="0">
                <a:solidFill>
                  <a:srgbClr val="E0F2F1"/>
                </a:solidFill>
                <a:latin typeface="Fira Code" pitchFamily="34" charset="0"/>
                <a:ea typeface="Fira Code" pitchFamily="34" charset="-122"/>
                <a:cs typeface="Fira Code" pitchFamily="34" charset="-120"/>
              </a:rPr>
              <a:t> self.global_mask = nn.Parameter( torch.randn(num_regions, num_regions) ) </a:t>
            </a:r>
            <a:r>
              <a:rPr lang="en-US" sz="834" i="1" dirty="0">
                <a:solidFill>
                  <a:srgbClr val="00897B"/>
                </a:solidFill>
                <a:latin typeface="Fira Code" pitchFamily="34" charset="0"/>
                <a:ea typeface="Fira Code" pitchFamily="34" charset="-122"/>
                <a:cs typeface="Fira Code" pitchFamily="34" charset="-120"/>
              </a:rPr>
              <a:t># 3. 領域間を跨ぐグラフ畳み込み (GCN)</a:t>
            </a:r>
            <a:r>
              <a:rPr lang="en-US" sz="834" dirty="0">
                <a:solidFill>
                  <a:srgbClr val="E0F2F1"/>
                </a:solidFill>
                <a:latin typeface="Fira Code" pitchFamily="34" charset="0"/>
                <a:ea typeface="Fira Code" pitchFamily="34" charset="-122"/>
                <a:cs typeface="Fira Code" pitchFamily="34" charset="-120"/>
              </a:rPr>
              <a:t> self.global_gcn = GCNLayer() </a:t>
            </a:r>
            <a:r>
              <a:rPr lang="en-US" sz="834" dirty="0">
                <a:solidFill>
                  <a:srgbClr val="FFD700"/>
                </a:solidFill>
                <a:latin typeface="Fira Code" pitchFamily="34" charset="0"/>
                <a:ea typeface="Fira Code" pitchFamily="34" charset="-122"/>
                <a:cs typeface="Fira Code" pitchFamily="34" charset="-120"/>
              </a:rPr>
              <a:t>def</a:t>
            </a:r>
            <a:r>
              <a:rPr lang="en-US" sz="834" dirty="0">
                <a:solidFill>
                  <a:srgbClr val="E0F2F1"/>
                </a:solidFill>
                <a:latin typeface="Fira Code" pitchFamily="34" charset="0"/>
                <a:ea typeface="Fira Code" pitchFamily="34" charset="-122"/>
                <a:cs typeface="Fira Code" pitchFamily="34" charset="-120"/>
              </a:rPr>
              <a:t> </a:t>
            </a:r>
            <a:r>
              <a:rPr lang="en-US" sz="834" dirty="0">
                <a:solidFill>
                  <a:srgbClr val="B2DFDB"/>
                </a:solidFill>
                <a:latin typeface="Fira Code" pitchFamily="34" charset="0"/>
                <a:ea typeface="Fira Code" pitchFamily="34" charset="-122"/>
                <a:cs typeface="Fira Code" pitchFamily="34" charset="-120"/>
              </a:rPr>
              <a:t>forward</a:t>
            </a:r>
            <a:r>
              <a:rPr lang="en-US" sz="834" dirty="0">
                <a:solidFill>
                  <a:srgbClr val="E0F2F1"/>
                </a:solidFill>
                <a:latin typeface="Fira Code" pitchFamily="34" charset="0"/>
                <a:ea typeface="Fira Code" pitchFamily="34" charset="-122"/>
                <a:cs typeface="Fira Code" pitchFamily="34" charset="-120"/>
              </a:rPr>
              <a:t>(self, x): </a:t>
            </a:r>
            <a:r>
              <a:rPr lang="en-US" sz="834" i="1" dirty="0">
                <a:solidFill>
                  <a:srgbClr val="00897B"/>
                </a:solidFill>
                <a:latin typeface="Fira Code" pitchFamily="34" charset="0"/>
                <a:ea typeface="Fira Code" pitchFamily="34" charset="-122"/>
                <a:cs typeface="Fira Code" pitchFamily="34" charset="-120"/>
              </a:rPr>
              <a:t># x: (Batch, Channels, Time)</a:t>
            </a:r>
            <a:r>
              <a:rPr lang="en-US" sz="834" dirty="0">
                <a:solidFill>
                  <a:srgbClr val="E0F2F1"/>
                </a:solidFill>
                <a:latin typeface="Fira Code" pitchFamily="34" charset="0"/>
                <a:ea typeface="Fira Code" pitchFamily="34" charset="-122"/>
                <a:cs typeface="Fira Code" pitchFamily="34" charset="-120"/>
              </a:rPr>
              <a:t> x = self.temp_block(x) </a:t>
            </a:r>
            <a:r>
              <a:rPr lang="en-US" sz="834" i="1" dirty="0">
                <a:solidFill>
                  <a:srgbClr val="00897B"/>
                </a:solidFill>
                <a:latin typeface="Fira Code" pitchFamily="34" charset="0"/>
                <a:ea typeface="Fira Code" pitchFamily="34" charset="-122"/>
                <a:cs typeface="Fira Code" pitchFamily="34" charset="-120"/>
              </a:rPr>
              <a:t># 領域ごとに平均を取って集約 (Local -&gt; Global)</a:t>
            </a:r>
            <a:r>
              <a:rPr lang="en-US" sz="834" dirty="0">
                <a:solidFill>
                  <a:srgbClr val="E0F2F1"/>
                </a:solidFill>
                <a:latin typeface="Fira Code" pitchFamily="34" charset="0"/>
                <a:ea typeface="Fira Code" pitchFamily="34" charset="-122"/>
                <a:cs typeface="Fira Code" pitchFamily="34" charset="-120"/>
              </a:rPr>
              <a:t> h_local = self.aggregate_local(x) </a:t>
            </a:r>
            <a:r>
              <a:rPr lang="en-US" sz="834" i="1" dirty="0">
                <a:solidFill>
                  <a:srgbClr val="00897B"/>
                </a:solidFill>
                <a:latin typeface="Fira Code" pitchFamily="34" charset="0"/>
                <a:ea typeface="Fira Code" pitchFamily="34" charset="-122"/>
                <a:cs typeface="Fira Code" pitchFamily="34" charset="-120"/>
              </a:rPr>
              <a:t># 領域間の類似度行列を作成 (A_base)</a:t>
            </a:r>
            <a:r>
              <a:rPr lang="en-US" sz="834" dirty="0">
                <a:solidFill>
                  <a:srgbClr val="E0F2F1"/>
                </a:solidFill>
                <a:latin typeface="Fira Code" pitchFamily="34" charset="0"/>
                <a:ea typeface="Fira Code" pitchFamily="34" charset="-122"/>
                <a:cs typeface="Fira Code" pitchFamily="34" charset="-120"/>
              </a:rPr>
              <a:t> adj = torch.bmm(h_local, h_local.transpose(1, 2)) </a:t>
            </a:r>
            <a:r>
              <a:rPr lang="en-US" sz="834" i="1" dirty="0">
                <a:solidFill>
                  <a:srgbClr val="00897B"/>
                </a:solidFill>
                <a:latin typeface="Fira Code" pitchFamily="34" charset="0"/>
                <a:ea typeface="Fira Code" pitchFamily="34" charset="-122"/>
                <a:cs typeface="Fira Code" pitchFamily="34" charset="-120"/>
              </a:rPr>
              <a:t># マスク適用とGCN</a:t>
            </a:r>
            <a:r>
              <a:rPr lang="en-US" sz="834" dirty="0">
                <a:solidFill>
                  <a:srgbClr val="E0F2F1"/>
                </a:solidFill>
                <a:latin typeface="Fira Code" pitchFamily="34" charset="0"/>
                <a:ea typeface="Fira Code" pitchFamily="34" charset="-122"/>
                <a:cs typeface="Fira Code" pitchFamily="34" charset="-120"/>
              </a:rPr>
              <a:t> </a:t>
            </a:r>
            <a:r>
              <a:rPr lang="en-US" sz="834" dirty="0">
                <a:solidFill>
                  <a:srgbClr val="FFD700"/>
                </a:solidFill>
                <a:latin typeface="Fira Code" pitchFamily="34" charset="0"/>
                <a:ea typeface="Fira Code" pitchFamily="34" charset="-122"/>
                <a:cs typeface="Fira Code" pitchFamily="34" charset="-120"/>
              </a:rPr>
              <a:t>return</a:t>
            </a:r>
            <a:r>
              <a:rPr lang="en-US" sz="834" dirty="0">
                <a:solidFill>
                  <a:srgbClr val="E0F2F1"/>
                </a:solidFill>
                <a:latin typeface="Fira Code" pitchFamily="34" charset="0"/>
                <a:ea typeface="Fira Code" pitchFamily="34" charset="-122"/>
                <a:cs typeface="Fira Code" pitchFamily="34" charset="-120"/>
              </a:rPr>
              <a:t> self.global_gcn(h_local, adj * self.global_mask)</a:t>
            </a:r>
            <a:endParaRPr lang="en-US" sz="834" dirty="0"/>
          </a:p>
        </p:txBody>
      </p:sp>
      <p:sp>
        <p:nvSpPr>
          <p:cNvPr id="6" name="Shape 3"/>
          <p:cNvSpPr/>
          <p:nvPr/>
        </p:nvSpPr>
        <p:spPr>
          <a:xfrm>
            <a:off x="5486400" y="905470"/>
            <a:ext cx="3228975" cy="787208"/>
          </a:xfrm>
          <a:prstGeom prst="rect">
            <a:avLst/>
          </a:prstGeom>
          <a:solidFill>
            <a:srgbClr val="004D40"/>
          </a:solidFill>
          <a:ln/>
        </p:spPr>
        <p:txBody>
          <a:bodyPr/>
          <a:lstStyle/>
          <a:p>
            <a:endParaRPr lang="ja-JP" altLang="en-US"/>
          </a:p>
        </p:txBody>
      </p:sp>
      <p:sp>
        <p:nvSpPr>
          <p:cNvPr id="7" name="Shape 4"/>
          <p:cNvSpPr/>
          <p:nvPr/>
        </p:nvSpPr>
        <p:spPr>
          <a:xfrm>
            <a:off x="5486400" y="905470"/>
            <a:ext cx="28575" cy="787208"/>
          </a:xfrm>
          <a:prstGeom prst="rect">
            <a:avLst/>
          </a:prstGeom>
          <a:solidFill>
            <a:srgbClr val="FFD700"/>
          </a:solidFill>
          <a:ln/>
        </p:spPr>
        <p:txBody>
          <a:bodyPr/>
          <a:lstStyle/>
          <a:p>
            <a:endParaRPr lang="ja-JP" altLang="en-US"/>
          </a:p>
        </p:txBody>
      </p:sp>
      <p:sp>
        <p:nvSpPr>
          <p:cNvPr id="8" name="Text 5"/>
          <p:cNvSpPr/>
          <p:nvPr/>
        </p:nvSpPr>
        <p:spPr>
          <a:xfrm>
            <a:off x="5629275" y="1048345"/>
            <a:ext cx="2943225"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D700"/>
                </a:solidFill>
                <a:latin typeface="Space Grotesk" pitchFamily="34" charset="0"/>
                <a:ea typeface="Space Grotesk" pitchFamily="34" charset="-122"/>
                <a:cs typeface="Space Grotesk" pitchFamily="34" charset="-120"/>
              </a:rPr>
              <a:t>1. TEMPORAL BLOCK</a:t>
            </a:r>
            <a:endParaRPr lang="en-US" sz="942" dirty="0"/>
          </a:p>
        </p:txBody>
      </p:sp>
      <p:sp>
        <p:nvSpPr>
          <p:cNvPr id="9" name="Text 6"/>
          <p:cNvSpPr/>
          <p:nvPr/>
        </p:nvSpPr>
        <p:spPr>
          <a:xfrm>
            <a:off x="5629275" y="1269802"/>
            <a:ext cx="2943225"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B2DFDB"/>
                </a:solidFill>
                <a:latin typeface="Inter" pitchFamily="34" charset="0"/>
                <a:ea typeface="Inter" pitchFamily="34" charset="-122"/>
                <a:cs typeface="Inter" pitchFamily="34" charset="-120"/>
              </a:rPr>
              <a:t>マルチスケールの1D畳み込みを行い、脳波のリズムを特徴量に変換します。</a:t>
            </a:r>
            <a:endParaRPr lang="en-US" sz="727" dirty="0"/>
          </a:p>
        </p:txBody>
      </p:sp>
      <p:sp>
        <p:nvSpPr>
          <p:cNvPr id="10" name="Shape 7"/>
          <p:cNvSpPr/>
          <p:nvPr/>
        </p:nvSpPr>
        <p:spPr>
          <a:xfrm>
            <a:off x="5486400" y="1835553"/>
            <a:ext cx="3228975" cy="787208"/>
          </a:xfrm>
          <a:prstGeom prst="rect">
            <a:avLst/>
          </a:prstGeom>
          <a:solidFill>
            <a:srgbClr val="004D40"/>
          </a:solidFill>
          <a:ln/>
        </p:spPr>
        <p:txBody>
          <a:bodyPr/>
          <a:lstStyle/>
          <a:p>
            <a:endParaRPr lang="ja-JP" altLang="en-US"/>
          </a:p>
        </p:txBody>
      </p:sp>
      <p:sp>
        <p:nvSpPr>
          <p:cNvPr id="11" name="Shape 8"/>
          <p:cNvSpPr/>
          <p:nvPr/>
        </p:nvSpPr>
        <p:spPr>
          <a:xfrm>
            <a:off x="5486400" y="1835553"/>
            <a:ext cx="28575" cy="787208"/>
          </a:xfrm>
          <a:prstGeom prst="rect">
            <a:avLst/>
          </a:prstGeom>
          <a:solidFill>
            <a:srgbClr val="FFD700"/>
          </a:solidFill>
          <a:ln/>
        </p:spPr>
        <p:txBody>
          <a:bodyPr/>
          <a:lstStyle/>
          <a:p>
            <a:endParaRPr lang="ja-JP" altLang="en-US"/>
          </a:p>
        </p:txBody>
      </p:sp>
      <p:sp>
        <p:nvSpPr>
          <p:cNvPr id="12" name="Text 9"/>
          <p:cNvSpPr/>
          <p:nvPr/>
        </p:nvSpPr>
        <p:spPr>
          <a:xfrm>
            <a:off x="5629275" y="1978428"/>
            <a:ext cx="2943225"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D700"/>
                </a:solidFill>
                <a:latin typeface="Space Grotesk" pitchFamily="34" charset="0"/>
                <a:ea typeface="Space Grotesk" pitchFamily="34" charset="-122"/>
                <a:cs typeface="Space Grotesk" pitchFamily="34" charset="-120"/>
              </a:rPr>
              <a:t>2. LOCAL AGGREGATION</a:t>
            </a:r>
            <a:endParaRPr lang="en-US" sz="942" dirty="0"/>
          </a:p>
        </p:txBody>
      </p:sp>
      <p:sp>
        <p:nvSpPr>
          <p:cNvPr id="13" name="Text 10"/>
          <p:cNvSpPr/>
          <p:nvPr/>
        </p:nvSpPr>
        <p:spPr>
          <a:xfrm>
            <a:off x="5629275" y="2199884"/>
            <a:ext cx="2943225" cy="280002"/>
          </a:xfrm>
          <a:prstGeom prst="rect">
            <a:avLst/>
          </a:prstGeom>
          <a:noFill/>
          <a:ln/>
        </p:spPr>
        <p:txBody>
          <a:bodyPr wrap="square" lIns="0" tIns="0" rIns="0" bIns="0" rtlCol="0" anchor="t">
            <a:spAutoFit/>
          </a:bodyPr>
          <a:lstStyle/>
          <a:p>
            <a:pPr marL="0" indent="0" algn="l">
              <a:lnSpc>
                <a:spcPts val="1100"/>
              </a:lnSpc>
              <a:buNone/>
            </a:pPr>
            <a:r>
              <a:rPr lang="en-US" sz="683" b="1" dirty="0">
                <a:solidFill>
                  <a:srgbClr val="FFD700"/>
                </a:solidFill>
                <a:latin typeface="Inter" pitchFamily="34" charset="0"/>
                <a:ea typeface="Inter" pitchFamily="34" charset="-122"/>
                <a:cs typeface="Inter" pitchFamily="34" charset="-120"/>
              </a:rPr>
              <a:t>aggregate_local</a:t>
            </a:r>
            <a:r>
              <a:rPr lang="en-US" sz="727" dirty="0">
                <a:solidFill>
                  <a:srgbClr val="B2DFDB"/>
                </a:solidFill>
                <a:latin typeface="Inter" pitchFamily="34" charset="0"/>
                <a:ea typeface="Inter" pitchFamily="34" charset="-122"/>
                <a:cs typeface="Inter" pitchFamily="34" charset="-120"/>
              </a:rPr>
              <a:t> 関数内で、電極ごとの特徴を機能領域単位で平均化します。</a:t>
            </a:r>
            <a:endParaRPr lang="en-US" sz="727" dirty="0"/>
          </a:p>
        </p:txBody>
      </p:sp>
      <p:sp>
        <p:nvSpPr>
          <p:cNvPr id="14" name="Shape 11"/>
          <p:cNvSpPr/>
          <p:nvPr/>
        </p:nvSpPr>
        <p:spPr>
          <a:xfrm>
            <a:off x="5486400" y="2765636"/>
            <a:ext cx="3228975" cy="787208"/>
          </a:xfrm>
          <a:prstGeom prst="rect">
            <a:avLst/>
          </a:prstGeom>
          <a:solidFill>
            <a:srgbClr val="004D40"/>
          </a:solidFill>
          <a:ln/>
        </p:spPr>
        <p:txBody>
          <a:bodyPr/>
          <a:lstStyle/>
          <a:p>
            <a:endParaRPr lang="ja-JP" altLang="en-US"/>
          </a:p>
        </p:txBody>
      </p:sp>
      <p:sp>
        <p:nvSpPr>
          <p:cNvPr id="15" name="Shape 12"/>
          <p:cNvSpPr/>
          <p:nvPr/>
        </p:nvSpPr>
        <p:spPr>
          <a:xfrm>
            <a:off x="5486400" y="2765636"/>
            <a:ext cx="28575" cy="787208"/>
          </a:xfrm>
          <a:prstGeom prst="rect">
            <a:avLst/>
          </a:prstGeom>
          <a:solidFill>
            <a:srgbClr val="FFD700"/>
          </a:solidFill>
          <a:ln/>
        </p:spPr>
        <p:txBody>
          <a:bodyPr/>
          <a:lstStyle/>
          <a:p>
            <a:endParaRPr lang="ja-JP" altLang="en-US"/>
          </a:p>
        </p:txBody>
      </p:sp>
      <p:sp>
        <p:nvSpPr>
          <p:cNvPr id="16" name="Text 13"/>
          <p:cNvSpPr/>
          <p:nvPr/>
        </p:nvSpPr>
        <p:spPr>
          <a:xfrm>
            <a:off x="5629275" y="2908511"/>
            <a:ext cx="2943225"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D700"/>
                </a:solidFill>
                <a:latin typeface="Space Grotesk" pitchFamily="34" charset="0"/>
                <a:ea typeface="Space Grotesk" pitchFamily="34" charset="-122"/>
                <a:cs typeface="Space Grotesk" pitchFamily="34" charset="-120"/>
              </a:rPr>
              <a:t>3. DYNAMIC GLOBAL GRAPH</a:t>
            </a:r>
            <a:endParaRPr lang="en-US" sz="942" dirty="0"/>
          </a:p>
        </p:txBody>
      </p:sp>
      <p:sp>
        <p:nvSpPr>
          <p:cNvPr id="17" name="Text 14"/>
          <p:cNvSpPr/>
          <p:nvPr/>
        </p:nvSpPr>
        <p:spPr>
          <a:xfrm>
            <a:off x="5629275" y="3129967"/>
            <a:ext cx="2943225" cy="280002"/>
          </a:xfrm>
          <a:prstGeom prst="rect">
            <a:avLst/>
          </a:prstGeom>
          <a:noFill/>
          <a:ln/>
        </p:spPr>
        <p:txBody>
          <a:bodyPr wrap="square" lIns="0" tIns="0" rIns="0" bIns="0" rtlCol="0" anchor="t">
            <a:spAutoFit/>
          </a:bodyPr>
          <a:lstStyle/>
          <a:p>
            <a:pPr marL="0" indent="0" algn="l">
              <a:lnSpc>
                <a:spcPts val="1100"/>
              </a:lnSpc>
              <a:buNone/>
            </a:pPr>
            <a:r>
              <a:rPr lang="en-US" sz="683" b="1" dirty="0">
                <a:solidFill>
                  <a:srgbClr val="FFD700"/>
                </a:solidFill>
                <a:latin typeface="Inter" pitchFamily="34" charset="0"/>
                <a:ea typeface="Inter" pitchFamily="34" charset="-122"/>
                <a:cs typeface="Inter" pitchFamily="34" charset="-120"/>
              </a:rPr>
              <a:t>torch.bmm</a:t>
            </a:r>
            <a:r>
              <a:rPr lang="en-US" sz="727" dirty="0">
                <a:solidFill>
                  <a:srgbClr val="B2DFDB"/>
                </a:solidFill>
                <a:latin typeface="Inter" pitchFamily="34" charset="0"/>
                <a:ea typeface="Inter" pitchFamily="34" charset="-122"/>
                <a:cs typeface="Inter" pitchFamily="34" charset="-120"/>
              </a:rPr>
              <a:t> を用いてバッチごとに類似度行列を計算。学習可能な </a:t>
            </a:r>
            <a:r>
              <a:rPr lang="en-US" sz="683" b="1" dirty="0">
                <a:solidFill>
                  <a:srgbClr val="FFD700"/>
                </a:solidFill>
                <a:latin typeface="Inter" pitchFamily="34" charset="0"/>
                <a:ea typeface="Inter" pitchFamily="34" charset="-122"/>
                <a:cs typeface="Inter" pitchFamily="34" charset="-120"/>
              </a:rPr>
              <a:t>global_mask</a:t>
            </a:r>
            <a:r>
              <a:rPr lang="en-US" sz="727" dirty="0">
                <a:solidFill>
                  <a:srgbClr val="B2DFDB"/>
                </a:solidFill>
                <a:latin typeface="Inter" pitchFamily="34" charset="0"/>
                <a:ea typeface="Inter" pitchFamily="34" charset="-122"/>
                <a:cs typeface="Inter" pitchFamily="34" charset="-120"/>
              </a:rPr>
              <a:t> で重要な結合を抽出します。</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405408"/>
          </a:xfrm>
          <a:prstGeom prst="rect">
            <a:avLst/>
          </a:prstGeom>
          <a:noFill/>
          <a:ln/>
        </p:spPr>
        <p:txBody>
          <a:bodyPr wrap="none" lIns="0" tIns="0" rIns="0" bIns="0" rtlCol="0" anchor="t">
            <a:spAutoFit/>
          </a:bodyPr>
          <a:lstStyle/>
          <a:p>
            <a:pPr marL="0" indent="0" algn="l">
              <a:lnSpc>
                <a:spcPts val="2800"/>
              </a:lnSpc>
              <a:buNone/>
            </a:pPr>
            <a:r>
              <a:rPr lang="en-US" sz="2121" b="1" kern="0" spc="2" dirty="0">
                <a:solidFill>
                  <a:srgbClr val="FFD700"/>
                </a:solidFill>
                <a:latin typeface="Space Grotesk" pitchFamily="34" charset="0"/>
                <a:ea typeface="Space Grotesk" pitchFamily="34" charset="-122"/>
                <a:cs typeface="Space Grotesk" pitchFamily="34" charset="-120"/>
              </a:rPr>
              <a:t>実験結果 - LGGNETの圧倒的な性能</a:t>
            </a:r>
            <a:endParaRPr lang="en-US" sz="2121" dirty="0"/>
          </a:p>
        </p:txBody>
      </p:sp>
      <p:sp>
        <p:nvSpPr>
          <p:cNvPr id="4" name="Text 1"/>
          <p:cNvSpPr/>
          <p:nvPr/>
        </p:nvSpPr>
        <p:spPr>
          <a:xfrm>
            <a:off x="428625" y="976908"/>
            <a:ext cx="8286750" cy="192881"/>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B2DFDB"/>
                </a:solidFill>
                <a:latin typeface="Inter" pitchFamily="34" charset="0"/>
                <a:ea typeface="Inter" pitchFamily="34" charset="-122"/>
                <a:cs typeface="Inter" pitchFamily="34" charset="-120"/>
              </a:rPr>
              <a:t>4つの異なる認知タスクにおいて、LGGNetは既存のSOTA（最高精度）手法を上回る性能を達成しました。</a:t>
            </a:r>
            <a:endParaRPr lang="en-US" sz="1050" dirty="0"/>
          </a:p>
        </p:txBody>
      </p:sp>
      <p:sp>
        <p:nvSpPr>
          <p:cNvPr id="5" name="Shape 2"/>
          <p:cNvSpPr/>
          <p:nvPr/>
        </p:nvSpPr>
        <p:spPr>
          <a:xfrm>
            <a:off x="428625" y="1384102"/>
            <a:ext cx="8286750" cy="2386013"/>
          </a:xfrm>
          <a:prstGeom prst="rect">
            <a:avLst/>
          </a:prstGeom>
          <a:solidFill>
            <a:srgbClr val="004D40"/>
          </a:solidFill>
          <a:ln w="9144">
            <a:solidFill>
              <a:srgbClr val="063131"/>
            </a:solidFill>
            <a:prstDash val="solid"/>
          </a:ln>
        </p:spPr>
        <p:txBody>
          <a:bodyPr/>
          <a:lstStyle/>
          <a:p>
            <a:endParaRPr lang="ja-JP" altLang="en-US"/>
          </a:p>
        </p:txBody>
      </p:sp>
      <p:sp>
        <p:nvSpPr>
          <p:cNvPr id="6" name="Shape 3"/>
          <p:cNvSpPr/>
          <p:nvPr/>
        </p:nvSpPr>
        <p:spPr>
          <a:xfrm>
            <a:off x="428625" y="1384102"/>
            <a:ext cx="2788434" cy="464344"/>
          </a:xfrm>
          <a:prstGeom prst="rect">
            <a:avLst/>
          </a:prstGeom>
          <a:solidFill>
            <a:srgbClr val="063131"/>
          </a:solidFill>
          <a:ln/>
        </p:spPr>
        <p:txBody>
          <a:bodyPr/>
          <a:lstStyle/>
          <a:p>
            <a:endParaRPr lang="ja-JP" altLang="en-US"/>
          </a:p>
        </p:txBody>
      </p:sp>
      <p:sp>
        <p:nvSpPr>
          <p:cNvPr id="7" name="Shape 4"/>
          <p:cNvSpPr/>
          <p:nvPr/>
        </p:nvSpPr>
        <p:spPr>
          <a:xfrm>
            <a:off x="428625" y="1841302"/>
            <a:ext cx="2788434" cy="7144"/>
          </a:xfrm>
          <a:prstGeom prst="rect">
            <a:avLst/>
          </a:prstGeom>
          <a:solidFill>
            <a:srgbClr val="063131"/>
          </a:solidFill>
          <a:ln/>
        </p:spPr>
        <p:txBody>
          <a:bodyPr/>
          <a:lstStyle/>
          <a:p>
            <a:endParaRPr lang="ja-JP" altLang="en-US"/>
          </a:p>
        </p:txBody>
      </p:sp>
      <p:sp>
        <p:nvSpPr>
          <p:cNvPr id="8" name="Text 5"/>
          <p:cNvSpPr/>
          <p:nvPr/>
        </p:nvSpPr>
        <p:spPr>
          <a:xfrm>
            <a:off x="428625" y="1384102"/>
            <a:ext cx="2788434" cy="464344"/>
          </a:xfrm>
          <a:prstGeom prst="rect">
            <a:avLst/>
          </a:prstGeom>
          <a:noFill/>
          <a:ln/>
        </p:spPr>
        <p:txBody>
          <a:bodyPr wrap="square" lIns="170053" tIns="170053" rIns="170053" bIns="170053" rtlCol="0" anchor="ctr">
            <a:spAutoFit/>
          </a:bodyPr>
          <a:lstStyle/>
          <a:p>
            <a:pPr marL="0" indent="0" algn="ctr">
              <a:lnSpc>
                <a:spcPts val="1200"/>
              </a:lnSpc>
              <a:buNone/>
            </a:pPr>
            <a:r>
              <a:rPr lang="en-US" sz="885" b="1" dirty="0">
                <a:solidFill>
                  <a:srgbClr val="FFD700"/>
                </a:solidFill>
                <a:latin typeface="Space Grotesk" pitchFamily="34" charset="0"/>
                <a:ea typeface="Space Grotesk" pitchFamily="34" charset="-122"/>
                <a:cs typeface="Space Grotesk" pitchFamily="34" charset="-120"/>
              </a:rPr>
              <a:t>タスク (データセット)</a:t>
            </a:r>
            <a:endParaRPr lang="en-US" sz="885" dirty="0"/>
          </a:p>
        </p:txBody>
      </p:sp>
      <p:sp>
        <p:nvSpPr>
          <p:cNvPr id="9" name="Shape 6"/>
          <p:cNvSpPr/>
          <p:nvPr/>
        </p:nvSpPr>
        <p:spPr>
          <a:xfrm>
            <a:off x="3217059" y="1384102"/>
            <a:ext cx="2319319" cy="464344"/>
          </a:xfrm>
          <a:prstGeom prst="rect">
            <a:avLst/>
          </a:prstGeom>
          <a:solidFill>
            <a:srgbClr val="063131"/>
          </a:solidFill>
          <a:ln/>
        </p:spPr>
        <p:txBody>
          <a:bodyPr/>
          <a:lstStyle/>
          <a:p>
            <a:endParaRPr lang="ja-JP" altLang="en-US"/>
          </a:p>
        </p:txBody>
      </p:sp>
      <p:sp>
        <p:nvSpPr>
          <p:cNvPr id="10" name="Shape 7"/>
          <p:cNvSpPr/>
          <p:nvPr/>
        </p:nvSpPr>
        <p:spPr>
          <a:xfrm>
            <a:off x="3217059" y="1841302"/>
            <a:ext cx="2319319" cy="7144"/>
          </a:xfrm>
          <a:prstGeom prst="rect">
            <a:avLst/>
          </a:prstGeom>
          <a:solidFill>
            <a:srgbClr val="063131"/>
          </a:solidFill>
          <a:ln/>
        </p:spPr>
        <p:txBody>
          <a:bodyPr/>
          <a:lstStyle/>
          <a:p>
            <a:endParaRPr lang="ja-JP" altLang="en-US"/>
          </a:p>
        </p:txBody>
      </p:sp>
      <p:sp>
        <p:nvSpPr>
          <p:cNvPr id="11" name="Text 8"/>
          <p:cNvSpPr/>
          <p:nvPr/>
        </p:nvSpPr>
        <p:spPr>
          <a:xfrm>
            <a:off x="3217059" y="1384102"/>
            <a:ext cx="2319319" cy="464344"/>
          </a:xfrm>
          <a:prstGeom prst="rect">
            <a:avLst/>
          </a:prstGeom>
          <a:noFill/>
          <a:ln/>
        </p:spPr>
        <p:txBody>
          <a:bodyPr wrap="square" lIns="170053" tIns="170053" rIns="170053" bIns="170053" rtlCol="0" anchor="ctr">
            <a:spAutoFit/>
          </a:bodyPr>
          <a:lstStyle/>
          <a:p>
            <a:pPr marL="0" indent="0" algn="ctr">
              <a:lnSpc>
                <a:spcPts val="1200"/>
              </a:lnSpc>
              <a:buNone/>
            </a:pPr>
            <a:r>
              <a:rPr lang="en-US" sz="885" b="1" dirty="0">
                <a:solidFill>
                  <a:srgbClr val="FFD700"/>
                </a:solidFill>
                <a:latin typeface="Space Grotesk" pitchFamily="34" charset="0"/>
                <a:ea typeface="Space Grotesk" pitchFamily="34" charset="-122"/>
                <a:cs typeface="Space Grotesk" pitchFamily="34" charset="-120"/>
              </a:rPr>
              <a:t>比較手法 (BEST SOTA)</a:t>
            </a:r>
            <a:endParaRPr lang="en-US" sz="885" dirty="0"/>
          </a:p>
        </p:txBody>
      </p:sp>
      <p:sp>
        <p:nvSpPr>
          <p:cNvPr id="12" name="Shape 9"/>
          <p:cNvSpPr/>
          <p:nvPr/>
        </p:nvSpPr>
        <p:spPr>
          <a:xfrm>
            <a:off x="5536378" y="1384102"/>
            <a:ext cx="2054637" cy="464344"/>
          </a:xfrm>
          <a:prstGeom prst="rect">
            <a:avLst/>
          </a:prstGeom>
          <a:solidFill>
            <a:srgbClr val="063131"/>
          </a:solidFill>
          <a:ln/>
        </p:spPr>
        <p:txBody>
          <a:bodyPr/>
          <a:lstStyle/>
          <a:p>
            <a:endParaRPr lang="ja-JP" altLang="en-US"/>
          </a:p>
        </p:txBody>
      </p:sp>
      <p:sp>
        <p:nvSpPr>
          <p:cNvPr id="13" name="Shape 10"/>
          <p:cNvSpPr/>
          <p:nvPr/>
        </p:nvSpPr>
        <p:spPr>
          <a:xfrm>
            <a:off x="5536378" y="1841302"/>
            <a:ext cx="2054637" cy="7144"/>
          </a:xfrm>
          <a:prstGeom prst="rect">
            <a:avLst/>
          </a:prstGeom>
          <a:solidFill>
            <a:srgbClr val="063131"/>
          </a:solidFill>
          <a:ln/>
        </p:spPr>
        <p:txBody>
          <a:bodyPr/>
          <a:lstStyle/>
          <a:p>
            <a:endParaRPr lang="ja-JP" altLang="en-US"/>
          </a:p>
        </p:txBody>
      </p:sp>
      <p:sp>
        <p:nvSpPr>
          <p:cNvPr id="14" name="Text 11"/>
          <p:cNvSpPr/>
          <p:nvPr/>
        </p:nvSpPr>
        <p:spPr>
          <a:xfrm>
            <a:off x="5536378" y="1384102"/>
            <a:ext cx="2054637" cy="464344"/>
          </a:xfrm>
          <a:prstGeom prst="rect">
            <a:avLst/>
          </a:prstGeom>
          <a:noFill/>
          <a:ln/>
        </p:spPr>
        <p:txBody>
          <a:bodyPr wrap="square" lIns="170053" tIns="170053" rIns="170053" bIns="170053" rtlCol="0" anchor="ctr">
            <a:spAutoFit/>
          </a:bodyPr>
          <a:lstStyle/>
          <a:p>
            <a:pPr marL="0" indent="0" algn="ctr">
              <a:lnSpc>
                <a:spcPts val="1200"/>
              </a:lnSpc>
              <a:buNone/>
            </a:pPr>
            <a:r>
              <a:rPr lang="en-US" sz="885" b="1" dirty="0">
                <a:solidFill>
                  <a:srgbClr val="FFD700"/>
                </a:solidFill>
                <a:latin typeface="Space Grotesk" pitchFamily="34" charset="0"/>
                <a:ea typeface="Space Grotesk" pitchFamily="34" charset="-122"/>
                <a:cs typeface="Space Grotesk" pitchFamily="34" charset="-120"/>
              </a:rPr>
              <a:t>LGGNET (提案手法)</a:t>
            </a:r>
            <a:endParaRPr lang="en-US" sz="885" dirty="0"/>
          </a:p>
        </p:txBody>
      </p:sp>
      <p:sp>
        <p:nvSpPr>
          <p:cNvPr id="15" name="Shape 12"/>
          <p:cNvSpPr/>
          <p:nvPr/>
        </p:nvSpPr>
        <p:spPr>
          <a:xfrm>
            <a:off x="7591016" y="1384102"/>
            <a:ext cx="1124359" cy="464344"/>
          </a:xfrm>
          <a:prstGeom prst="rect">
            <a:avLst/>
          </a:prstGeom>
          <a:solidFill>
            <a:srgbClr val="063131"/>
          </a:solidFill>
          <a:ln/>
        </p:spPr>
        <p:txBody>
          <a:bodyPr/>
          <a:lstStyle/>
          <a:p>
            <a:endParaRPr lang="ja-JP" altLang="en-US"/>
          </a:p>
        </p:txBody>
      </p:sp>
      <p:sp>
        <p:nvSpPr>
          <p:cNvPr id="16" name="Shape 13"/>
          <p:cNvSpPr/>
          <p:nvPr/>
        </p:nvSpPr>
        <p:spPr>
          <a:xfrm>
            <a:off x="7591016" y="1841302"/>
            <a:ext cx="1124359" cy="7144"/>
          </a:xfrm>
          <a:prstGeom prst="rect">
            <a:avLst/>
          </a:prstGeom>
          <a:solidFill>
            <a:srgbClr val="063131"/>
          </a:solidFill>
          <a:ln/>
        </p:spPr>
        <p:txBody>
          <a:bodyPr/>
          <a:lstStyle/>
          <a:p>
            <a:endParaRPr lang="ja-JP" altLang="en-US"/>
          </a:p>
        </p:txBody>
      </p:sp>
      <p:sp>
        <p:nvSpPr>
          <p:cNvPr id="17" name="Text 14"/>
          <p:cNvSpPr/>
          <p:nvPr/>
        </p:nvSpPr>
        <p:spPr>
          <a:xfrm>
            <a:off x="7591016" y="1384102"/>
            <a:ext cx="1124359" cy="464344"/>
          </a:xfrm>
          <a:prstGeom prst="rect">
            <a:avLst/>
          </a:prstGeom>
          <a:noFill/>
          <a:ln/>
        </p:spPr>
        <p:txBody>
          <a:bodyPr wrap="square" lIns="170053" tIns="170053" rIns="170053" bIns="170053" rtlCol="0" anchor="ctr">
            <a:spAutoFit/>
          </a:bodyPr>
          <a:lstStyle/>
          <a:p>
            <a:pPr marL="0" indent="0" algn="ctr">
              <a:lnSpc>
                <a:spcPts val="1200"/>
              </a:lnSpc>
              <a:buNone/>
            </a:pPr>
            <a:r>
              <a:rPr lang="en-US" sz="885" b="1" dirty="0">
                <a:solidFill>
                  <a:srgbClr val="FFD700"/>
                </a:solidFill>
                <a:latin typeface="Space Grotesk" pitchFamily="34" charset="0"/>
                <a:ea typeface="Space Grotesk" pitchFamily="34" charset="-122"/>
                <a:cs typeface="Space Grotesk" pitchFamily="34" charset="-120"/>
              </a:rPr>
              <a:t>向上幅</a:t>
            </a:r>
            <a:endParaRPr lang="en-US" sz="885" dirty="0"/>
          </a:p>
        </p:txBody>
      </p:sp>
      <p:sp>
        <p:nvSpPr>
          <p:cNvPr id="18" name="Text 15"/>
          <p:cNvSpPr/>
          <p:nvPr/>
        </p:nvSpPr>
        <p:spPr>
          <a:xfrm>
            <a:off x="428625" y="1841302"/>
            <a:ext cx="2788434" cy="476845"/>
          </a:xfrm>
          <a:prstGeom prst="rect">
            <a:avLst/>
          </a:prstGeom>
          <a:noFill/>
          <a:ln/>
        </p:spPr>
        <p:txBody>
          <a:bodyPr wrap="square" lIns="255143" tIns="170053" rIns="170053" bIns="170053" rtlCol="0" anchor="ctr">
            <a:spAutoFit/>
          </a:bodyPr>
          <a:lstStyle/>
          <a:p>
            <a:pPr marL="0" indent="0" algn="l">
              <a:lnSpc>
                <a:spcPts val="1200"/>
              </a:lnSpc>
              <a:buNone/>
            </a:pPr>
            <a:r>
              <a:rPr lang="en-US" sz="885" b="1" dirty="0">
                <a:solidFill>
                  <a:srgbClr val="B2DFDB"/>
                </a:solidFill>
                <a:latin typeface="Inter" pitchFamily="34" charset="0"/>
                <a:ea typeface="Inter" pitchFamily="34" charset="-122"/>
                <a:cs typeface="Inter" pitchFamily="34" charset="-120"/>
              </a:rPr>
              <a:t>Attention (注意)</a:t>
            </a:r>
            <a:endParaRPr lang="en-US" sz="885" dirty="0"/>
          </a:p>
        </p:txBody>
      </p:sp>
      <p:sp>
        <p:nvSpPr>
          <p:cNvPr id="19" name="Text 16"/>
          <p:cNvSpPr/>
          <p:nvPr/>
        </p:nvSpPr>
        <p:spPr>
          <a:xfrm>
            <a:off x="3217059" y="1841302"/>
            <a:ext cx="2319319" cy="476845"/>
          </a:xfrm>
          <a:prstGeom prst="rect">
            <a:avLst/>
          </a:prstGeom>
          <a:noFill/>
          <a:ln/>
        </p:spPr>
        <p:txBody>
          <a:bodyPr wrap="square" lIns="170053" tIns="170053" rIns="170053" bIns="170053" rtlCol="0" anchor="ctr">
            <a:spAutoFit/>
          </a:bodyPr>
          <a:lstStyle/>
          <a:p>
            <a:pPr marL="0" indent="0" algn="ctr">
              <a:lnSpc>
                <a:spcPts val="1200"/>
              </a:lnSpc>
              <a:buNone/>
            </a:pPr>
            <a:r>
              <a:rPr lang="en-US" sz="942" dirty="0">
                <a:solidFill>
                  <a:srgbClr val="E0F2F1"/>
                </a:solidFill>
                <a:latin typeface="Inter" pitchFamily="34" charset="0"/>
                <a:ea typeface="Inter" pitchFamily="34" charset="-122"/>
                <a:cs typeface="Inter" pitchFamily="34" charset="-120"/>
              </a:rPr>
              <a:t>85.21% (RGNN)</a:t>
            </a:r>
            <a:endParaRPr lang="en-US" sz="942" dirty="0"/>
          </a:p>
        </p:txBody>
      </p:sp>
      <p:sp>
        <p:nvSpPr>
          <p:cNvPr id="20" name="Text 17"/>
          <p:cNvSpPr/>
          <p:nvPr/>
        </p:nvSpPr>
        <p:spPr>
          <a:xfrm>
            <a:off x="5536378" y="1841302"/>
            <a:ext cx="2054637" cy="476845"/>
          </a:xfrm>
          <a:prstGeom prst="rect">
            <a:avLst/>
          </a:prstGeom>
          <a:noFill/>
          <a:ln/>
        </p:spPr>
        <p:txBody>
          <a:bodyPr wrap="square" lIns="170053" tIns="170053" rIns="170053" bIns="170053" rtlCol="0" anchor="ctr">
            <a:spAutoFit/>
          </a:bodyPr>
          <a:lstStyle/>
          <a:p>
            <a:pPr marL="0" indent="0" algn="ctr">
              <a:lnSpc>
                <a:spcPts val="1200"/>
              </a:lnSpc>
              <a:buNone/>
            </a:pPr>
            <a:r>
              <a:rPr lang="en-US" sz="885" b="1" dirty="0">
                <a:solidFill>
                  <a:srgbClr val="FFD700"/>
                </a:solidFill>
                <a:latin typeface="Inter" pitchFamily="34" charset="0"/>
                <a:ea typeface="Inter" pitchFamily="34" charset="-122"/>
                <a:cs typeface="Inter" pitchFamily="34" charset="-120"/>
              </a:rPr>
              <a:t>88.42%</a:t>
            </a:r>
            <a:endParaRPr lang="en-US" sz="885" dirty="0"/>
          </a:p>
        </p:txBody>
      </p:sp>
      <p:sp>
        <p:nvSpPr>
          <p:cNvPr id="21" name="Text 18"/>
          <p:cNvSpPr/>
          <p:nvPr/>
        </p:nvSpPr>
        <p:spPr>
          <a:xfrm>
            <a:off x="7591016" y="1869877"/>
            <a:ext cx="1124359" cy="448270"/>
          </a:xfrm>
          <a:prstGeom prst="rect">
            <a:avLst/>
          </a:prstGeom>
          <a:noFill/>
          <a:ln/>
        </p:spPr>
        <p:txBody>
          <a:bodyPr wrap="square" lIns="170053" tIns="170053" rIns="170053" bIns="170053" rtlCol="0" anchor="ctr">
            <a:spAutoFit/>
          </a:bodyPr>
          <a:lstStyle/>
          <a:p>
            <a:pPr marL="0" indent="0" algn="ctr">
              <a:lnSpc>
                <a:spcPts val="1200"/>
              </a:lnSpc>
              <a:buNone/>
            </a:pPr>
            <a:r>
              <a:rPr lang="en-US" sz="942" dirty="0">
                <a:solidFill>
                  <a:srgbClr val="FF8F00"/>
                </a:solidFill>
                <a:latin typeface="Inter" pitchFamily="34" charset="0"/>
                <a:ea typeface="Inter" pitchFamily="34" charset="-122"/>
                <a:cs typeface="Inter" pitchFamily="34" charset="-120"/>
              </a:rPr>
              <a:t>+3.21%</a:t>
            </a:r>
            <a:endParaRPr lang="en-US" sz="942" dirty="0"/>
          </a:p>
        </p:txBody>
      </p:sp>
      <p:sp>
        <p:nvSpPr>
          <p:cNvPr id="22" name="Text 19"/>
          <p:cNvSpPr/>
          <p:nvPr/>
        </p:nvSpPr>
        <p:spPr>
          <a:xfrm>
            <a:off x="428625" y="2318147"/>
            <a:ext cx="2788434" cy="476845"/>
          </a:xfrm>
          <a:prstGeom prst="rect">
            <a:avLst/>
          </a:prstGeom>
          <a:noFill/>
          <a:ln/>
        </p:spPr>
        <p:txBody>
          <a:bodyPr wrap="square" lIns="255143" tIns="170053" rIns="170053" bIns="170053" rtlCol="0" anchor="ctr">
            <a:spAutoFit/>
          </a:bodyPr>
          <a:lstStyle/>
          <a:p>
            <a:pPr marL="0" indent="0" algn="l">
              <a:lnSpc>
                <a:spcPts val="1200"/>
              </a:lnSpc>
              <a:buNone/>
            </a:pPr>
            <a:r>
              <a:rPr lang="en-US" sz="885" b="1" dirty="0">
                <a:solidFill>
                  <a:srgbClr val="B2DFDB"/>
                </a:solidFill>
                <a:latin typeface="Inter" pitchFamily="34" charset="0"/>
                <a:ea typeface="Inter" pitchFamily="34" charset="-122"/>
                <a:cs typeface="Inter" pitchFamily="34" charset="-120"/>
              </a:rPr>
              <a:t>Fatigue (疲労)</a:t>
            </a:r>
            <a:endParaRPr lang="en-US" sz="885" dirty="0"/>
          </a:p>
        </p:txBody>
      </p:sp>
      <p:sp>
        <p:nvSpPr>
          <p:cNvPr id="23" name="Text 20"/>
          <p:cNvSpPr/>
          <p:nvPr/>
        </p:nvSpPr>
        <p:spPr>
          <a:xfrm>
            <a:off x="3217059" y="2318147"/>
            <a:ext cx="2319319" cy="476845"/>
          </a:xfrm>
          <a:prstGeom prst="rect">
            <a:avLst/>
          </a:prstGeom>
          <a:noFill/>
          <a:ln/>
        </p:spPr>
        <p:txBody>
          <a:bodyPr wrap="square" lIns="170053" tIns="170053" rIns="170053" bIns="170053" rtlCol="0" anchor="ctr">
            <a:spAutoFit/>
          </a:bodyPr>
          <a:lstStyle/>
          <a:p>
            <a:pPr marL="0" indent="0" algn="ctr">
              <a:lnSpc>
                <a:spcPts val="1200"/>
              </a:lnSpc>
              <a:buNone/>
            </a:pPr>
            <a:r>
              <a:rPr lang="en-US" sz="942" dirty="0">
                <a:solidFill>
                  <a:srgbClr val="E0F2F1"/>
                </a:solidFill>
                <a:latin typeface="Inter" pitchFamily="34" charset="0"/>
                <a:ea typeface="Inter" pitchFamily="34" charset="-122"/>
                <a:cs typeface="Inter" pitchFamily="34" charset="-120"/>
              </a:rPr>
              <a:t>81.54% (TSception)</a:t>
            </a:r>
            <a:endParaRPr lang="en-US" sz="942" dirty="0"/>
          </a:p>
        </p:txBody>
      </p:sp>
      <p:sp>
        <p:nvSpPr>
          <p:cNvPr id="24" name="Text 21"/>
          <p:cNvSpPr/>
          <p:nvPr/>
        </p:nvSpPr>
        <p:spPr>
          <a:xfrm>
            <a:off x="5536378" y="2318147"/>
            <a:ext cx="2054637" cy="476845"/>
          </a:xfrm>
          <a:prstGeom prst="rect">
            <a:avLst/>
          </a:prstGeom>
          <a:noFill/>
          <a:ln/>
        </p:spPr>
        <p:txBody>
          <a:bodyPr wrap="square" lIns="170053" tIns="170053" rIns="170053" bIns="170053" rtlCol="0" anchor="ctr">
            <a:spAutoFit/>
          </a:bodyPr>
          <a:lstStyle/>
          <a:p>
            <a:pPr marL="0" indent="0" algn="ctr">
              <a:lnSpc>
                <a:spcPts val="1200"/>
              </a:lnSpc>
              <a:buNone/>
            </a:pPr>
            <a:r>
              <a:rPr lang="en-US" sz="885" b="1" dirty="0">
                <a:solidFill>
                  <a:srgbClr val="FFD700"/>
                </a:solidFill>
                <a:latin typeface="Inter" pitchFamily="34" charset="0"/>
                <a:ea typeface="Inter" pitchFamily="34" charset="-122"/>
                <a:cs typeface="Inter" pitchFamily="34" charset="-120"/>
              </a:rPr>
              <a:t>84.32%</a:t>
            </a:r>
            <a:endParaRPr lang="en-US" sz="885" dirty="0"/>
          </a:p>
        </p:txBody>
      </p:sp>
      <p:sp>
        <p:nvSpPr>
          <p:cNvPr id="25" name="Text 22"/>
          <p:cNvSpPr/>
          <p:nvPr/>
        </p:nvSpPr>
        <p:spPr>
          <a:xfrm>
            <a:off x="7591016" y="2346722"/>
            <a:ext cx="1124359" cy="448270"/>
          </a:xfrm>
          <a:prstGeom prst="rect">
            <a:avLst/>
          </a:prstGeom>
          <a:noFill/>
          <a:ln/>
        </p:spPr>
        <p:txBody>
          <a:bodyPr wrap="square" lIns="170053" tIns="170053" rIns="170053" bIns="170053" rtlCol="0" anchor="ctr">
            <a:spAutoFit/>
          </a:bodyPr>
          <a:lstStyle/>
          <a:p>
            <a:pPr marL="0" indent="0" algn="ctr">
              <a:lnSpc>
                <a:spcPts val="1200"/>
              </a:lnSpc>
              <a:buNone/>
            </a:pPr>
            <a:r>
              <a:rPr lang="en-US" sz="942" dirty="0">
                <a:solidFill>
                  <a:srgbClr val="FF8F00"/>
                </a:solidFill>
                <a:latin typeface="Inter" pitchFamily="34" charset="0"/>
                <a:ea typeface="Inter" pitchFamily="34" charset="-122"/>
                <a:cs typeface="Inter" pitchFamily="34" charset="-120"/>
              </a:rPr>
              <a:t>+2.78%</a:t>
            </a:r>
            <a:endParaRPr lang="en-US" sz="942" dirty="0"/>
          </a:p>
        </p:txBody>
      </p:sp>
      <p:sp>
        <p:nvSpPr>
          <p:cNvPr id="26" name="Text 23"/>
          <p:cNvSpPr/>
          <p:nvPr/>
        </p:nvSpPr>
        <p:spPr>
          <a:xfrm>
            <a:off x="428625" y="2794992"/>
            <a:ext cx="2788434" cy="476845"/>
          </a:xfrm>
          <a:prstGeom prst="rect">
            <a:avLst/>
          </a:prstGeom>
          <a:noFill/>
          <a:ln/>
        </p:spPr>
        <p:txBody>
          <a:bodyPr wrap="square" lIns="255143" tIns="170053" rIns="170053" bIns="170053" rtlCol="0" anchor="ctr">
            <a:spAutoFit/>
          </a:bodyPr>
          <a:lstStyle/>
          <a:p>
            <a:pPr marL="0" indent="0" algn="l">
              <a:lnSpc>
                <a:spcPts val="1200"/>
              </a:lnSpc>
              <a:buNone/>
            </a:pPr>
            <a:r>
              <a:rPr lang="en-US" sz="885" b="1" dirty="0">
                <a:solidFill>
                  <a:srgbClr val="B2DFDB"/>
                </a:solidFill>
                <a:latin typeface="Inter" pitchFamily="34" charset="0"/>
                <a:ea typeface="Inter" pitchFamily="34" charset="-122"/>
                <a:cs typeface="Inter" pitchFamily="34" charset="-120"/>
              </a:rPr>
              <a:t>Emotion (感情 - DEAP)</a:t>
            </a:r>
            <a:endParaRPr lang="en-US" sz="885" dirty="0"/>
          </a:p>
        </p:txBody>
      </p:sp>
      <p:sp>
        <p:nvSpPr>
          <p:cNvPr id="27" name="Text 24"/>
          <p:cNvSpPr/>
          <p:nvPr/>
        </p:nvSpPr>
        <p:spPr>
          <a:xfrm>
            <a:off x="3217059" y="2794992"/>
            <a:ext cx="2319319" cy="476845"/>
          </a:xfrm>
          <a:prstGeom prst="rect">
            <a:avLst/>
          </a:prstGeom>
          <a:noFill/>
          <a:ln/>
        </p:spPr>
        <p:txBody>
          <a:bodyPr wrap="square" lIns="170053" tIns="170053" rIns="170053" bIns="170053" rtlCol="0" anchor="ctr">
            <a:spAutoFit/>
          </a:bodyPr>
          <a:lstStyle/>
          <a:p>
            <a:pPr marL="0" indent="0" algn="ctr">
              <a:lnSpc>
                <a:spcPts val="1200"/>
              </a:lnSpc>
              <a:buNone/>
            </a:pPr>
            <a:r>
              <a:rPr lang="en-US" sz="942" dirty="0">
                <a:solidFill>
                  <a:srgbClr val="E0F2F1"/>
                </a:solidFill>
                <a:latin typeface="Inter" pitchFamily="34" charset="0"/>
                <a:ea typeface="Inter" pitchFamily="34" charset="-122"/>
                <a:cs typeface="Inter" pitchFamily="34" charset="-120"/>
              </a:rPr>
              <a:t>62.15% (EEGNet)</a:t>
            </a:r>
            <a:endParaRPr lang="en-US" sz="942" dirty="0"/>
          </a:p>
        </p:txBody>
      </p:sp>
      <p:sp>
        <p:nvSpPr>
          <p:cNvPr id="28" name="Text 25"/>
          <p:cNvSpPr/>
          <p:nvPr/>
        </p:nvSpPr>
        <p:spPr>
          <a:xfrm>
            <a:off x="5536378" y="2794992"/>
            <a:ext cx="2054637" cy="476845"/>
          </a:xfrm>
          <a:prstGeom prst="rect">
            <a:avLst/>
          </a:prstGeom>
          <a:noFill/>
          <a:ln/>
        </p:spPr>
        <p:txBody>
          <a:bodyPr wrap="square" lIns="170053" tIns="170053" rIns="170053" bIns="170053" rtlCol="0" anchor="ctr">
            <a:spAutoFit/>
          </a:bodyPr>
          <a:lstStyle/>
          <a:p>
            <a:pPr marL="0" indent="0" algn="ctr">
              <a:lnSpc>
                <a:spcPts val="1200"/>
              </a:lnSpc>
              <a:buNone/>
            </a:pPr>
            <a:r>
              <a:rPr lang="en-US" sz="885" b="1" dirty="0">
                <a:solidFill>
                  <a:srgbClr val="FFD700"/>
                </a:solidFill>
                <a:latin typeface="Inter" pitchFamily="34" charset="0"/>
                <a:ea typeface="Inter" pitchFamily="34" charset="-122"/>
                <a:cs typeface="Inter" pitchFamily="34" charset="-120"/>
              </a:rPr>
              <a:t>65.48%</a:t>
            </a:r>
            <a:endParaRPr lang="en-US" sz="885" dirty="0"/>
          </a:p>
        </p:txBody>
      </p:sp>
      <p:sp>
        <p:nvSpPr>
          <p:cNvPr id="29" name="Text 26"/>
          <p:cNvSpPr/>
          <p:nvPr/>
        </p:nvSpPr>
        <p:spPr>
          <a:xfrm>
            <a:off x="7591016" y="2823567"/>
            <a:ext cx="1124359" cy="448270"/>
          </a:xfrm>
          <a:prstGeom prst="rect">
            <a:avLst/>
          </a:prstGeom>
          <a:noFill/>
          <a:ln/>
        </p:spPr>
        <p:txBody>
          <a:bodyPr wrap="square" lIns="170053" tIns="170053" rIns="170053" bIns="170053" rtlCol="0" anchor="ctr">
            <a:spAutoFit/>
          </a:bodyPr>
          <a:lstStyle/>
          <a:p>
            <a:pPr marL="0" indent="0" algn="ctr">
              <a:lnSpc>
                <a:spcPts val="1200"/>
              </a:lnSpc>
              <a:buNone/>
            </a:pPr>
            <a:r>
              <a:rPr lang="en-US" sz="942" dirty="0">
                <a:solidFill>
                  <a:srgbClr val="FF8F00"/>
                </a:solidFill>
                <a:latin typeface="Inter" pitchFamily="34" charset="0"/>
                <a:ea typeface="Inter" pitchFamily="34" charset="-122"/>
                <a:cs typeface="Inter" pitchFamily="34" charset="-120"/>
              </a:rPr>
              <a:t>+3.33%</a:t>
            </a:r>
            <a:endParaRPr lang="en-US" sz="942" dirty="0"/>
          </a:p>
        </p:txBody>
      </p:sp>
      <p:sp>
        <p:nvSpPr>
          <p:cNvPr id="30" name="Text 27"/>
          <p:cNvSpPr/>
          <p:nvPr/>
        </p:nvSpPr>
        <p:spPr>
          <a:xfrm>
            <a:off x="428625" y="3271838"/>
            <a:ext cx="2788434" cy="476845"/>
          </a:xfrm>
          <a:prstGeom prst="rect">
            <a:avLst/>
          </a:prstGeom>
          <a:noFill/>
          <a:ln/>
        </p:spPr>
        <p:txBody>
          <a:bodyPr wrap="square" lIns="255143" tIns="170053" rIns="170053" bIns="170053" rtlCol="0" anchor="ctr">
            <a:spAutoFit/>
          </a:bodyPr>
          <a:lstStyle/>
          <a:p>
            <a:pPr marL="0" indent="0" algn="l">
              <a:lnSpc>
                <a:spcPts val="1200"/>
              </a:lnSpc>
              <a:buNone/>
            </a:pPr>
            <a:r>
              <a:rPr lang="en-US" sz="885" b="1" dirty="0">
                <a:solidFill>
                  <a:srgbClr val="B2DFDB"/>
                </a:solidFill>
                <a:latin typeface="Inter" pitchFamily="34" charset="0"/>
                <a:ea typeface="Inter" pitchFamily="34" charset="-122"/>
                <a:cs typeface="Inter" pitchFamily="34" charset="-120"/>
              </a:rPr>
              <a:t>Preference (嗜好 - DEAP)</a:t>
            </a:r>
            <a:endParaRPr lang="en-US" sz="885" dirty="0"/>
          </a:p>
        </p:txBody>
      </p:sp>
      <p:sp>
        <p:nvSpPr>
          <p:cNvPr id="31" name="Text 28"/>
          <p:cNvSpPr/>
          <p:nvPr/>
        </p:nvSpPr>
        <p:spPr>
          <a:xfrm>
            <a:off x="3217059" y="3271838"/>
            <a:ext cx="2319319" cy="476845"/>
          </a:xfrm>
          <a:prstGeom prst="rect">
            <a:avLst/>
          </a:prstGeom>
          <a:noFill/>
          <a:ln/>
        </p:spPr>
        <p:txBody>
          <a:bodyPr wrap="square" lIns="170053" tIns="170053" rIns="170053" bIns="170053" rtlCol="0" anchor="ctr">
            <a:spAutoFit/>
          </a:bodyPr>
          <a:lstStyle/>
          <a:p>
            <a:pPr marL="0" indent="0" algn="ctr">
              <a:lnSpc>
                <a:spcPts val="1200"/>
              </a:lnSpc>
              <a:buNone/>
            </a:pPr>
            <a:r>
              <a:rPr lang="en-US" sz="942" dirty="0">
                <a:solidFill>
                  <a:srgbClr val="E0F2F1"/>
                </a:solidFill>
                <a:latin typeface="Inter" pitchFamily="34" charset="0"/>
                <a:ea typeface="Inter" pitchFamily="34" charset="-122"/>
                <a:cs typeface="Inter" pitchFamily="34" charset="-120"/>
              </a:rPr>
              <a:t>68.42% (GraphNet)</a:t>
            </a:r>
            <a:endParaRPr lang="en-US" sz="942" dirty="0"/>
          </a:p>
        </p:txBody>
      </p:sp>
      <p:sp>
        <p:nvSpPr>
          <p:cNvPr id="32" name="Text 29"/>
          <p:cNvSpPr/>
          <p:nvPr/>
        </p:nvSpPr>
        <p:spPr>
          <a:xfrm>
            <a:off x="5536378" y="3271838"/>
            <a:ext cx="2054637" cy="476845"/>
          </a:xfrm>
          <a:prstGeom prst="rect">
            <a:avLst/>
          </a:prstGeom>
          <a:noFill/>
          <a:ln/>
        </p:spPr>
        <p:txBody>
          <a:bodyPr wrap="square" lIns="170053" tIns="170053" rIns="170053" bIns="170053" rtlCol="0" anchor="ctr">
            <a:spAutoFit/>
          </a:bodyPr>
          <a:lstStyle/>
          <a:p>
            <a:pPr marL="0" indent="0" algn="ctr">
              <a:lnSpc>
                <a:spcPts val="1200"/>
              </a:lnSpc>
              <a:buNone/>
            </a:pPr>
            <a:r>
              <a:rPr lang="en-US" sz="885" b="1" dirty="0">
                <a:solidFill>
                  <a:srgbClr val="FFD700"/>
                </a:solidFill>
                <a:latin typeface="Inter" pitchFamily="34" charset="0"/>
                <a:ea typeface="Inter" pitchFamily="34" charset="-122"/>
                <a:cs typeface="Inter" pitchFamily="34" charset="-120"/>
              </a:rPr>
              <a:t>71.25%</a:t>
            </a:r>
            <a:endParaRPr lang="en-US" sz="885" dirty="0"/>
          </a:p>
        </p:txBody>
      </p:sp>
      <p:sp>
        <p:nvSpPr>
          <p:cNvPr id="33" name="Text 30"/>
          <p:cNvSpPr/>
          <p:nvPr/>
        </p:nvSpPr>
        <p:spPr>
          <a:xfrm>
            <a:off x="7591016" y="3300413"/>
            <a:ext cx="1124359" cy="448270"/>
          </a:xfrm>
          <a:prstGeom prst="rect">
            <a:avLst/>
          </a:prstGeom>
          <a:noFill/>
          <a:ln/>
        </p:spPr>
        <p:txBody>
          <a:bodyPr wrap="square" lIns="170053" tIns="170053" rIns="170053" bIns="170053" rtlCol="0" anchor="ctr">
            <a:spAutoFit/>
          </a:bodyPr>
          <a:lstStyle/>
          <a:p>
            <a:pPr marL="0" indent="0" algn="ctr">
              <a:lnSpc>
                <a:spcPts val="1200"/>
              </a:lnSpc>
              <a:buNone/>
            </a:pPr>
            <a:r>
              <a:rPr lang="en-US" sz="942" dirty="0">
                <a:solidFill>
                  <a:srgbClr val="FF8F00"/>
                </a:solidFill>
                <a:latin typeface="Inter" pitchFamily="34" charset="0"/>
                <a:ea typeface="Inter" pitchFamily="34" charset="-122"/>
                <a:cs typeface="Inter" pitchFamily="34" charset="-120"/>
              </a:rPr>
              <a:t>+2.83%</a:t>
            </a:r>
            <a:endParaRPr lang="en-US" sz="942" dirty="0"/>
          </a:p>
        </p:txBody>
      </p:sp>
      <p:sp>
        <p:nvSpPr>
          <p:cNvPr id="34" name="Shape 31"/>
          <p:cNvSpPr/>
          <p:nvPr/>
        </p:nvSpPr>
        <p:spPr>
          <a:xfrm>
            <a:off x="428625" y="4034433"/>
            <a:ext cx="8286750" cy="800100"/>
          </a:xfrm>
          <a:prstGeom prst="rect">
            <a:avLst/>
          </a:prstGeom>
          <a:solidFill>
            <a:srgbClr val="FFD700">
              <a:alpha val="5000"/>
            </a:srgbClr>
          </a:solidFill>
          <a:ln/>
        </p:spPr>
        <p:txBody>
          <a:bodyPr/>
          <a:lstStyle/>
          <a:p>
            <a:endParaRPr lang="ja-JP" altLang="en-US"/>
          </a:p>
        </p:txBody>
      </p:sp>
      <p:sp>
        <p:nvSpPr>
          <p:cNvPr id="35" name="Shape 32"/>
          <p:cNvSpPr/>
          <p:nvPr/>
        </p:nvSpPr>
        <p:spPr>
          <a:xfrm>
            <a:off x="428625" y="4034433"/>
            <a:ext cx="35719" cy="800100"/>
          </a:xfrm>
          <a:prstGeom prst="rect">
            <a:avLst/>
          </a:prstGeom>
          <a:solidFill>
            <a:srgbClr val="FFD700"/>
          </a:solidFill>
          <a:ln/>
        </p:spPr>
        <p:txBody>
          <a:bodyPr/>
          <a:lstStyle/>
          <a:p>
            <a:endParaRPr lang="ja-JP" altLang="en-US"/>
          </a:p>
        </p:txBody>
      </p:sp>
      <p:pic>
        <p:nvPicPr>
          <p:cNvPr id="36" name="Image 1" descr="preencoded.png"/>
          <p:cNvPicPr>
            <a:picLocks noChangeAspect="1"/>
          </p:cNvPicPr>
          <p:nvPr/>
        </p:nvPicPr>
        <p:blipFill>
          <a:blip r:embed="rId4"/>
          <a:stretch>
            <a:fillRect/>
          </a:stretch>
        </p:blipFill>
        <p:spPr>
          <a:xfrm>
            <a:off x="600075" y="4288036"/>
            <a:ext cx="321469" cy="285750"/>
          </a:xfrm>
          <a:prstGeom prst="rect">
            <a:avLst/>
          </a:prstGeom>
        </p:spPr>
      </p:pic>
      <p:sp>
        <p:nvSpPr>
          <p:cNvPr id="37" name="Text 33"/>
          <p:cNvSpPr/>
          <p:nvPr/>
        </p:nvSpPr>
        <p:spPr>
          <a:xfrm>
            <a:off x="1064419" y="4205883"/>
            <a:ext cx="7479506"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E0F2F1"/>
                </a:solidFill>
                <a:latin typeface="Inter" pitchFamily="34" charset="0"/>
                <a:ea typeface="Inter" pitchFamily="34" charset="-122"/>
                <a:cs typeface="Inter" pitchFamily="34" charset="-120"/>
              </a:rPr>
              <a:t>脳の</a:t>
            </a:r>
            <a:r>
              <a:rPr lang="en-US" sz="987" b="1" dirty="0">
                <a:solidFill>
                  <a:srgbClr val="FFD700"/>
                </a:solidFill>
                <a:latin typeface="Inter" pitchFamily="34" charset="0"/>
                <a:ea typeface="Inter" pitchFamily="34" charset="-122"/>
                <a:cs typeface="Inter" pitchFamily="34" charset="-120"/>
              </a:rPr>
              <a:t>ドメイン知識（機能領域の分割）</a:t>
            </a:r>
            <a:r>
              <a:rPr lang="en-US" sz="1050" dirty="0">
                <a:solidFill>
                  <a:srgbClr val="E0F2F1"/>
                </a:solidFill>
                <a:latin typeface="Inter" pitchFamily="34" charset="0"/>
                <a:ea typeface="Inter" pitchFamily="34" charset="-122"/>
                <a:cs typeface="Inter" pitchFamily="34" charset="-120"/>
              </a:rPr>
              <a:t>をネットワーク構造として持つことで、データが少ない場合や複雑なタスクにおいても、効率的に本質的な特徴を学習できることが証明されました。</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910185" y="428625"/>
            <a:ext cx="3323630" cy="462558"/>
          </a:xfrm>
          <a:prstGeom prst="rect">
            <a:avLst/>
          </a:prstGeom>
          <a:noFill/>
          <a:ln/>
        </p:spPr>
        <p:txBody>
          <a:bodyPr wrap="none" lIns="0" tIns="0" rIns="0" bIns="0" rtlCol="0" anchor="t">
            <a:spAutoFit/>
          </a:bodyPr>
          <a:lstStyle/>
          <a:p>
            <a:pPr marL="0" indent="0" algn="ctr">
              <a:lnSpc>
                <a:spcPts val="3200"/>
              </a:lnSpc>
              <a:buNone/>
            </a:pPr>
            <a:r>
              <a:rPr lang="en-US" sz="2436" b="1" kern="0" spc="2" dirty="0">
                <a:solidFill>
                  <a:srgbClr val="FFD700"/>
                </a:solidFill>
                <a:latin typeface="Space Grotesk" pitchFamily="34" charset="0"/>
                <a:ea typeface="Space Grotesk" pitchFamily="34" charset="-122"/>
                <a:cs typeface="Space Grotesk" pitchFamily="34" charset="-120"/>
              </a:rPr>
              <a:t>まとめと今後の展望</a:t>
            </a:r>
            <a:endParaRPr lang="en-US" sz="2436" dirty="0"/>
          </a:p>
        </p:txBody>
      </p:sp>
      <p:sp>
        <p:nvSpPr>
          <p:cNvPr id="4" name="Shape 1"/>
          <p:cNvSpPr/>
          <p:nvPr/>
        </p:nvSpPr>
        <p:spPr>
          <a:xfrm>
            <a:off x="642938" y="1248370"/>
            <a:ext cx="2476509" cy="2017328"/>
          </a:xfrm>
          <a:prstGeom prst="rect">
            <a:avLst/>
          </a:prstGeom>
          <a:solidFill>
            <a:srgbClr val="004D40"/>
          </a:solidFill>
          <a:ln/>
        </p:spPr>
        <p:txBody>
          <a:bodyPr/>
          <a:lstStyle/>
          <a:p>
            <a:endParaRPr lang="ja-JP" altLang="en-US"/>
          </a:p>
        </p:txBody>
      </p:sp>
      <p:sp>
        <p:nvSpPr>
          <p:cNvPr id="5" name="Shape 2"/>
          <p:cNvSpPr/>
          <p:nvPr/>
        </p:nvSpPr>
        <p:spPr>
          <a:xfrm>
            <a:off x="642938" y="1248370"/>
            <a:ext cx="2476509" cy="28575"/>
          </a:xfrm>
          <a:prstGeom prst="rect">
            <a:avLst/>
          </a:prstGeom>
          <a:solidFill>
            <a:srgbClr val="FF8F00"/>
          </a:solidFill>
          <a:ln/>
        </p:spPr>
        <p:txBody>
          <a:bodyPr/>
          <a:lstStyle/>
          <a:p>
            <a:endParaRPr lang="ja-JP" altLang="en-US"/>
          </a:p>
        </p:txBody>
      </p:sp>
      <p:pic>
        <p:nvPicPr>
          <p:cNvPr id="6" name="Image 1" descr="preencoded.png"/>
          <p:cNvPicPr>
            <a:picLocks noChangeAspect="1"/>
          </p:cNvPicPr>
          <p:nvPr/>
        </p:nvPicPr>
        <p:blipFill>
          <a:blip r:embed="rId4"/>
          <a:stretch>
            <a:fillRect/>
          </a:stretch>
        </p:blipFill>
        <p:spPr>
          <a:xfrm>
            <a:off x="1738303" y="1489472"/>
            <a:ext cx="285750" cy="285750"/>
          </a:xfrm>
          <a:prstGeom prst="rect">
            <a:avLst/>
          </a:prstGeom>
        </p:spPr>
      </p:pic>
      <p:sp>
        <p:nvSpPr>
          <p:cNvPr id="7" name="Text 3"/>
          <p:cNvSpPr/>
          <p:nvPr/>
        </p:nvSpPr>
        <p:spPr>
          <a:xfrm>
            <a:off x="857250" y="1952030"/>
            <a:ext cx="2047884" cy="232172"/>
          </a:xfrm>
          <a:prstGeom prst="rect">
            <a:avLst/>
          </a:prstGeom>
          <a:noFill/>
          <a:ln/>
        </p:spPr>
        <p:txBody>
          <a:bodyPr wrap="none" lIns="0" tIns="0" rIns="0" bIns="0" rtlCol="0" anchor="t">
            <a:spAutoFit/>
          </a:bodyPr>
          <a:lstStyle/>
          <a:p>
            <a:pPr marL="0" indent="0" algn="ctr">
              <a:lnSpc>
                <a:spcPts val="1600"/>
              </a:lnSpc>
              <a:buNone/>
            </a:pPr>
            <a:r>
              <a:rPr lang="en-US" sz="1269" dirty="0">
                <a:solidFill>
                  <a:srgbClr val="FFD700"/>
                </a:solidFill>
                <a:latin typeface="Space Grotesk" pitchFamily="34" charset="0"/>
                <a:ea typeface="Space Grotesk" pitchFamily="34" charset="-122"/>
                <a:cs typeface="Space Grotesk" pitchFamily="34" charset="-120"/>
              </a:rPr>
              <a:t>階層的グラフ構造</a:t>
            </a:r>
            <a:endParaRPr lang="en-US" sz="1269" dirty="0"/>
          </a:p>
        </p:txBody>
      </p:sp>
      <p:sp>
        <p:nvSpPr>
          <p:cNvPr id="8" name="Text 4"/>
          <p:cNvSpPr/>
          <p:nvPr/>
        </p:nvSpPr>
        <p:spPr>
          <a:xfrm>
            <a:off x="857250" y="2291358"/>
            <a:ext cx="2047884" cy="731453"/>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B2DFDB"/>
                </a:solidFill>
                <a:latin typeface="Inter" pitchFamily="34" charset="0"/>
                <a:ea typeface="Inter" pitchFamily="34" charset="-122"/>
                <a:cs typeface="Inter" pitchFamily="34" charset="-120"/>
              </a:rPr>
              <a:t>電極単体ではなく、</a:t>
            </a:r>
            <a:r>
              <a:rPr lang="en-US" sz="784" b="1" dirty="0">
                <a:solidFill>
                  <a:srgbClr val="FFD700"/>
                </a:solidFill>
                <a:latin typeface="Inter" pitchFamily="34" charset="0"/>
                <a:ea typeface="Inter" pitchFamily="34" charset="-122"/>
                <a:cs typeface="Inter" pitchFamily="34" charset="-120"/>
              </a:rPr>
              <a:t>「領域（Local）」</a:t>
            </a:r>
            <a:r>
              <a:rPr lang="en-US" sz="834" dirty="0">
                <a:solidFill>
                  <a:srgbClr val="B2DFDB"/>
                </a:solidFill>
                <a:latin typeface="Inter" pitchFamily="34" charset="0"/>
                <a:ea typeface="Inter" pitchFamily="34" charset="-122"/>
                <a:cs typeface="Inter" pitchFamily="34" charset="-120"/>
              </a:rPr>
              <a:t>と</a:t>
            </a:r>
            <a:r>
              <a:rPr lang="en-US" sz="784" b="1" dirty="0">
                <a:solidFill>
                  <a:srgbClr val="FFD700"/>
                </a:solidFill>
                <a:latin typeface="Inter" pitchFamily="34" charset="0"/>
                <a:ea typeface="Inter" pitchFamily="34" charset="-122"/>
                <a:cs typeface="Inter" pitchFamily="34" charset="-120"/>
              </a:rPr>
              <a:t>「領域間（Global）」</a:t>
            </a:r>
            <a:r>
              <a:rPr lang="en-US" sz="834" dirty="0">
                <a:solidFill>
                  <a:srgbClr val="B2DFDB"/>
                </a:solidFill>
                <a:latin typeface="Inter" pitchFamily="34" charset="0"/>
                <a:ea typeface="Inter" pitchFamily="34" charset="-122"/>
                <a:cs typeface="Inter" pitchFamily="34" charset="-120"/>
              </a:rPr>
              <a:t>の2段階で情報を整理し、脳の複雑なネットワークを忠実に再現。</a:t>
            </a:r>
            <a:endParaRPr lang="en-US" sz="834" dirty="0"/>
          </a:p>
        </p:txBody>
      </p:sp>
      <p:sp>
        <p:nvSpPr>
          <p:cNvPr id="9" name="Shape 5"/>
          <p:cNvSpPr/>
          <p:nvPr/>
        </p:nvSpPr>
        <p:spPr>
          <a:xfrm>
            <a:off x="3333759" y="1248370"/>
            <a:ext cx="2476509" cy="2017328"/>
          </a:xfrm>
          <a:prstGeom prst="rect">
            <a:avLst/>
          </a:prstGeom>
          <a:solidFill>
            <a:srgbClr val="004D40"/>
          </a:solidFill>
          <a:ln/>
        </p:spPr>
        <p:txBody>
          <a:bodyPr/>
          <a:lstStyle/>
          <a:p>
            <a:endParaRPr lang="ja-JP" altLang="en-US"/>
          </a:p>
        </p:txBody>
      </p:sp>
      <p:sp>
        <p:nvSpPr>
          <p:cNvPr id="10" name="Shape 6"/>
          <p:cNvSpPr/>
          <p:nvPr/>
        </p:nvSpPr>
        <p:spPr>
          <a:xfrm>
            <a:off x="3333759" y="1248370"/>
            <a:ext cx="2476509" cy="28575"/>
          </a:xfrm>
          <a:prstGeom prst="rect">
            <a:avLst/>
          </a:prstGeom>
          <a:solidFill>
            <a:srgbClr val="FF8F00"/>
          </a:solidFill>
          <a:ln/>
        </p:spPr>
        <p:txBody>
          <a:bodyPr/>
          <a:lstStyle/>
          <a:p>
            <a:endParaRPr lang="ja-JP" altLang="en-US"/>
          </a:p>
        </p:txBody>
      </p:sp>
      <p:pic>
        <p:nvPicPr>
          <p:cNvPr id="11" name="Image 2" descr="preencoded.png"/>
          <p:cNvPicPr>
            <a:picLocks noChangeAspect="1"/>
          </p:cNvPicPr>
          <p:nvPr/>
        </p:nvPicPr>
        <p:blipFill>
          <a:blip r:embed="rId5"/>
          <a:stretch>
            <a:fillRect/>
          </a:stretch>
        </p:blipFill>
        <p:spPr>
          <a:xfrm>
            <a:off x="4446984" y="1489472"/>
            <a:ext cx="250031" cy="285750"/>
          </a:xfrm>
          <a:prstGeom prst="rect">
            <a:avLst/>
          </a:prstGeom>
        </p:spPr>
      </p:pic>
      <p:sp>
        <p:nvSpPr>
          <p:cNvPr id="12" name="Text 7"/>
          <p:cNvSpPr/>
          <p:nvPr/>
        </p:nvSpPr>
        <p:spPr>
          <a:xfrm>
            <a:off x="3548072" y="1952030"/>
            <a:ext cx="2047884" cy="232172"/>
          </a:xfrm>
          <a:prstGeom prst="rect">
            <a:avLst/>
          </a:prstGeom>
          <a:noFill/>
          <a:ln/>
        </p:spPr>
        <p:txBody>
          <a:bodyPr wrap="none" lIns="0" tIns="0" rIns="0" bIns="0" rtlCol="0" anchor="t">
            <a:spAutoFit/>
          </a:bodyPr>
          <a:lstStyle/>
          <a:p>
            <a:pPr marL="0" indent="0" algn="ctr">
              <a:lnSpc>
                <a:spcPts val="1600"/>
              </a:lnSpc>
              <a:buNone/>
            </a:pPr>
            <a:r>
              <a:rPr lang="en-US" sz="1269" dirty="0">
                <a:solidFill>
                  <a:srgbClr val="FFD700"/>
                </a:solidFill>
                <a:latin typeface="Space Grotesk" pitchFamily="34" charset="0"/>
                <a:ea typeface="Space Grotesk" pitchFamily="34" charset="-122"/>
                <a:cs typeface="Space Grotesk" pitchFamily="34" charset="-120"/>
              </a:rPr>
              <a:t>ドメイン知識の融合</a:t>
            </a:r>
            <a:endParaRPr lang="en-US" sz="1269" dirty="0"/>
          </a:p>
        </p:txBody>
      </p:sp>
      <p:sp>
        <p:nvSpPr>
          <p:cNvPr id="13" name="Text 8"/>
          <p:cNvSpPr/>
          <p:nvPr/>
        </p:nvSpPr>
        <p:spPr>
          <a:xfrm>
            <a:off x="3548072" y="2291358"/>
            <a:ext cx="2047884" cy="731453"/>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B2DFDB"/>
                </a:solidFill>
                <a:latin typeface="Inter" pitchFamily="34" charset="0"/>
                <a:ea typeface="Inter" pitchFamily="34" charset="-122"/>
                <a:cs typeface="Inter" pitchFamily="34" charset="-120"/>
              </a:rPr>
              <a:t>10-20法などの</a:t>
            </a:r>
            <a:r>
              <a:rPr lang="en-US" sz="784" b="1" dirty="0">
                <a:solidFill>
                  <a:srgbClr val="FFD700"/>
                </a:solidFill>
                <a:latin typeface="Inter" pitchFamily="34" charset="0"/>
                <a:ea typeface="Inter" pitchFamily="34" charset="-122"/>
                <a:cs typeface="Inter" pitchFamily="34" charset="-120"/>
              </a:rPr>
              <a:t>神経科学的知見</a:t>
            </a:r>
            <a:r>
              <a:rPr lang="en-US" sz="834" dirty="0">
                <a:solidFill>
                  <a:srgbClr val="B2DFDB"/>
                </a:solidFill>
                <a:latin typeface="Inter" pitchFamily="34" charset="0"/>
                <a:ea typeface="Inter" pitchFamily="34" charset="-122"/>
                <a:cs typeface="Inter" pitchFamily="34" charset="-120"/>
              </a:rPr>
              <a:t>をネットワーク構造に直接組み込むことで、少ないデータでも高い精度と解釈性を実現。</a:t>
            </a:r>
            <a:endParaRPr lang="en-US" sz="834" dirty="0"/>
          </a:p>
        </p:txBody>
      </p:sp>
      <p:sp>
        <p:nvSpPr>
          <p:cNvPr id="14" name="Shape 9"/>
          <p:cNvSpPr/>
          <p:nvPr/>
        </p:nvSpPr>
        <p:spPr>
          <a:xfrm>
            <a:off x="6024581" y="1248370"/>
            <a:ext cx="2476509" cy="2017328"/>
          </a:xfrm>
          <a:prstGeom prst="rect">
            <a:avLst/>
          </a:prstGeom>
          <a:solidFill>
            <a:srgbClr val="004D40"/>
          </a:solidFill>
          <a:ln/>
        </p:spPr>
        <p:txBody>
          <a:bodyPr/>
          <a:lstStyle/>
          <a:p>
            <a:endParaRPr lang="ja-JP" altLang="en-US"/>
          </a:p>
        </p:txBody>
      </p:sp>
      <p:sp>
        <p:nvSpPr>
          <p:cNvPr id="15" name="Shape 10"/>
          <p:cNvSpPr/>
          <p:nvPr/>
        </p:nvSpPr>
        <p:spPr>
          <a:xfrm>
            <a:off x="6024581" y="1248370"/>
            <a:ext cx="2476509" cy="28575"/>
          </a:xfrm>
          <a:prstGeom prst="rect">
            <a:avLst/>
          </a:prstGeom>
          <a:solidFill>
            <a:srgbClr val="FF8F00"/>
          </a:solidFill>
          <a:ln/>
        </p:spPr>
        <p:txBody>
          <a:bodyPr/>
          <a:lstStyle/>
          <a:p>
            <a:endParaRPr lang="ja-JP" altLang="en-US"/>
          </a:p>
        </p:txBody>
      </p:sp>
      <p:pic>
        <p:nvPicPr>
          <p:cNvPr id="16" name="Image 3" descr="preencoded.png"/>
          <p:cNvPicPr>
            <a:picLocks noChangeAspect="1"/>
          </p:cNvPicPr>
          <p:nvPr/>
        </p:nvPicPr>
        <p:blipFill>
          <a:blip r:embed="rId6"/>
          <a:stretch>
            <a:fillRect/>
          </a:stretch>
        </p:blipFill>
        <p:spPr>
          <a:xfrm>
            <a:off x="7119947" y="1489472"/>
            <a:ext cx="285750" cy="285750"/>
          </a:xfrm>
          <a:prstGeom prst="rect">
            <a:avLst/>
          </a:prstGeom>
        </p:spPr>
      </p:pic>
      <p:sp>
        <p:nvSpPr>
          <p:cNvPr id="17" name="Text 11"/>
          <p:cNvSpPr/>
          <p:nvPr/>
        </p:nvSpPr>
        <p:spPr>
          <a:xfrm>
            <a:off x="6238894" y="1952030"/>
            <a:ext cx="2047884" cy="232172"/>
          </a:xfrm>
          <a:prstGeom prst="rect">
            <a:avLst/>
          </a:prstGeom>
          <a:noFill/>
          <a:ln/>
        </p:spPr>
        <p:txBody>
          <a:bodyPr wrap="none" lIns="0" tIns="0" rIns="0" bIns="0" rtlCol="0" anchor="t">
            <a:spAutoFit/>
          </a:bodyPr>
          <a:lstStyle/>
          <a:p>
            <a:pPr marL="0" indent="0" algn="ctr">
              <a:lnSpc>
                <a:spcPts val="1600"/>
              </a:lnSpc>
              <a:buNone/>
            </a:pPr>
            <a:r>
              <a:rPr lang="en-US" sz="1269" dirty="0">
                <a:solidFill>
                  <a:srgbClr val="FFD700"/>
                </a:solidFill>
                <a:latin typeface="Space Grotesk" pitchFamily="34" charset="0"/>
                <a:ea typeface="Space Grotesk" pitchFamily="34" charset="-122"/>
                <a:cs typeface="Space Grotesk" pitchFamily="34" charset="-120"/>
              </a:rPr>
              <a:t>高い適応性</a:t>
            </a:r>
            <a:endParaRPr lang="en-US" sz="1269" dirty="0"/>
          </a:p>
        </p:txBody>
      </p:sp>
      <p:sp>
        <p:nvSpPr>
          <p:cNvPr id="18" name="Text 12"/>
          <p:cNvSpPr/>
          <p:nvPr/>
        </p:nvSpPr>
        <p:spPr>
          <a:xfrm>
            <a:off x="6238894" y="2291358"/>
            <a:ext cx="2047884" cy="731453"/>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B2DFDB"/>
                </a:solidFill>
                <a:latin typeface="Inter" pitchFamily="34" charset="0"/>
                <a:ea typeface="Inter" pitchFamily="34" charset="-122"/>
                <a:cs typeface="Inter" pitchFamily="34" charset="-120"/>
              </a:rPr>
              <a:t>感情、注意、疲労など、タスクに応じて</a:t>
            </a:r>
            <a:r>
              <a:rPr lang="en-US" sz="784" b="1" dirty="0">
                <a:solidFill>
                  <a:srgbClr val="FFD700"/>
                </a:solidFill>
                <a:latin typeface="Inter" pitchFamily="34" charset="0"/>
                <a:ea typeface="Inter" pitchFamily="34" charset="-122"/>
                <a:cs typeface="Inter" pitchFamily="34" charset="-120"/>
              </a:rPr>
              <a:t>グラフの定義を柔軟に変更</a:t>
            </a:r>
            <a:r>
              <a:rPr lang="en-US" sz="834" dirty="0">
                <a:solidFill>
                  <a:srgbClr val="B2DFDB"/>
                </a:solidFill>
                <a:latin typeface="Inter" pitchFamily="34" charset="0"/>
                <a:ea typeface="Inter" pitchFamily="34" charset="-122"/>
                <a:cs typeface="Inter" pitchFamily="34" charset="-120"/>
              </a:rPr>
              <a:t>でき、多様なBCIアプリケーションへの応用が可能。</a:t>
            </a:r>
            <a:endParaRPr lang="en-US" sz="834" dirty="0"/>
          </a:p>
        </p:txBody>
      </p:sp>
      <p:sp>
        <p:nvSpPr>
          <p:cNvPr id="19" name="Shape 13"/>
          <p:cNvSpPr/>
          <p:nvPr/>
        </p:nvSpPr>
        <p:spPr>
          <a:xfrm>
            <a:off x="642938" y="3665748"/>
            <a:ext cx="7858125" cy="1187258"/>
          </a:xfrm>
          <a:prstGeom prst="rect">
            <a:avLst/>
          </a:prstGeom>
          <a:solidFill>
            <a:srgbClr val="FFD700">
              <a:alpha val="5000"/>
            </a:srgbClr>
          </a:solidFill>
          <a:ln w="9144">
            <a:solidFill>
              <a:srgbClr val="FFD700"/>
            </a:solidFill>
            <a:prstDash val="solid"/>
          </a:ln>
        </p:spPr>
        <p:txBody>
          <a:bodyPr/>
          <a:lstStyle/>
          <a:p>
            <a:endParaRPr lang="ja-JP" altLang="en-US"/>
          </a:p>
        </p:txBody>
      </p:sp>
      <p:sp>
        <p:nvSpPr>
          <p:cNvPr id="20" name="Text 14"/>
          <p:cNvSpPr/>
          <p:nvPr/>
        </p:nvSpPr>
        <p:spPr>
          <a:xfrm>
            <a:off x="857250" y="3880061"/>
            <a:ext cx="7429500" cy="192881"/>
          </a:xfrm>
          <a:prstGeom prst="rect">
            <a:avLst/>
          </a:prstGeom>
          <a:noFill/>
          <a:ln/>
        </p:spPr>
        <p:txBody>
          <a:bodyPr wrap="none" lIns="0" tIns="0" rIns="0" bIns="0" rtlCol="0" anchor="t">
            <a:spAutoFit/>
          </a:bodyPr>
          <a:lstStyle/>
          <a:p>
            <a:pPr marL="0" indent="0" algn="ctr">
              <a:lnSpc>
                <a:spcPts val="1400"/>
              </a:lnSpc>
              <a:buNone/>
            </a:pPr>
            <a:r>
              <a:rPr lang="en-US" sz="1050" kern="0" spc="1" dirty="0">
                <a:solidFill>
                  <a:srgbClr val="FF8F00"/>
                </a:solidFill>
                <a:latin typeface="Space Grotesk" pitchFamily="34" charset="0"/>
                <a:ea typeface="Space Grotesk" pitchFamily="34" charset="-122"/>
                <a:cs typeface="Space Grotesk" pitchFamily="34" charset="-120"/>
              </a:rPr>
              <a:t>AI設計への示唆</a:t>
            </a:r>
            <a:endParaRPr lang="en-US" sz="1050" dirty="0"/>
          </a:p>
        </p:txBody>
      </p:sp>
      <p:sp>
        <p:nvSpPr>
          <p:cNvPr id="21" name="Text 15"/>
          <p:cNvSpPr/>
          <p:nvPr/>
        </p:nvSpPr>
        <p:spPr>
          <a:xfrm>
            <a:off x="857250" y="4144380"/>
            <a:ext cx="7429500" cy="480027"/>
          </a:xfrm>
          <a:prstGeom prst="rect">
            <a:avLst/>
          </a:prstGeom>
          <a:noFill/>
          <a:ln/>
        </p:spPr>
        <p:txBody>
          <a:bodyPr wrap="square" lIns="0" tIns="0" rIns="0" bIns="0" rtlCol="0" anchor="t">
            <a:spAutoFit/>
          </a:bodyPr>
          <a:lstStyle/>
          <a:p>
            <a:pPr marL="0" indent="0" algn="ctr">
              <a:lnSpc>
                <a:spcPts val="1900"/>
              </a:lnSpc>
              <a:buNone/>
            </a:pPr>
            <a:r>
              <a:rPr lang="en-US" sz="1269" dirty="0">
                <a:solidFill>
                  <a:srgbClr val="E0F2F1"/>
                </a:solidFill>
                <a:latin typeface="Inter" pitchFamily="34" charset="0"/>
                <a:ea typeface="Inter" pitchFamily="34" charset="-122"/>
                <a:cs typeface="Inter" pitchFamily="34" charset="-120"/>
              </a:rPr>
              <a:t>「データに語らせる」だけでなく、</a:t>
            </a:r>
            <a:r>
              <a:rPr lang="en-US" sz="1193" b="1" dirty="0">
                <a:solidFill>
                  <a:srgbClr val="FFD700"/>
                </a:solidFill>
                <a:latin typeface="Inter" pitchFamily="34" charset="0"/>
                <a:ea typeface="Inter" pitchFamily="34" charset="-122"/>
                <a:cs typeface="Inter" pitchFamily="34" charset="-120"/>
              </a:rPr>
              <a:t>「正しい構造（科学的根拠）を与える」</a:t>
            </a:r>
            <a:r>
              <a:rPr lang="en-US" sz="1269" dirty="0">
                <a:solidFill>
                  <a:srgbClr val="E0F2F1"/>
                </a:solidFill>
                <a:latin typeface="Inter" pitchFamily="34" charset="0"/>
                <a:ea typeface="Inter" pitchFamily="34" charset="-122"/>
                <a:cs typeface="Inter" pitchFamily="34" charset="-120"/>
              </a:rPr>
              <a:t>ことが、
生体信号解析における次世代AI設計の鍵となります。</a:t>
            </a:r>
            <a:endParaRPr lang="en-US" sz="1269"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962</Words>
  <Application>Microsoft Office PowerPoint</Application>
  <PresentationFormat>画面に合わせる (16:9)</PresentationFormat>
  <Paragraphs>192</Paragraphs>
  <Slides>11</Slides>
  <Notes>11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11</vt:i4>
      </vt:variant>
    </vt:vector>
  </HeadingPairs>
  <TitlesOfParts>
    <vt:vector size="17" baseType="lpstr">
      <vt:lpstr>Inter</vt:lpstr>
      <vt:lpstr>Space Grotesk</vt:lpstr>
      <vt:lpstr>メイリオ</vt:lpstr>
      <vt:lpstr>Arial</vt:lpstr>
      <vt:lpstr>Fira Code</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和之 吉川</cp:lastModifiedBy>
  <cp:revision>1</cp:revision>
  <dcterms:created xsi:type="dcterms:W3CDTF">2026-04-17T15:23:30Z</dcterms:created>
  <dcterms:modified xsi:type="dcterms:W3CDTF">2026-04-17T15:25:05Z</dcterms:modified>
</cp:coreProperties>
</file>